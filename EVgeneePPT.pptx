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1" r:id="rId1"/>
    <p:sldMasterId id="2147483672" r:id="rId2"/>
  </p:sldMasterIdLst>
  <p:notesMasterIdLst>
    <p:notesMasterId r:id="rId9"/>
  </p:notesMasterIdLst>
  <p:sldIdLst>
    <p:sldId id="258" r:id="rId3"/>
    <p:sldId id="256" r:id="rId4"/>
    <p:sldId id="261" r:id="rId5"/>
    <p:sldId id="257" r:id="rId6"/>
    <p:sldId id="263" r:id="rId7"/>
    <p:sldId id="260" r:id="rId8"/>
  </p:sldIdLst>
  <p:sldSz cx="12188825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F8E4"/>
    <a:srgbClr val="D9F0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94d0a3f24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8" name="Google Shape;218;g3d94d0a3f24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2" name="Google Shape;132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body" idx="1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>
            <a:spLocks noGrp="1"/>
          </p:cNvSpPr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4"/>
          <p:cNvSpPr txBox="1">
            <a:spLocks noGrp="1"/>
          </p:cNvSpPr>
          <p:nvPr>
            <p:ph type="body" idx="1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763B6-5EAF-AB07-32D3-2FE6D4408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080D5F-8070-31E4-8121-192F7701B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77654-BF10-CE4E-0B85-D64A24A8C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E5DC9-94A8-773F-E656-EFA134764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E2B4B-82A2-4123-E8AD-66FD5B80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0317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E3A88-861E-1046-7B77-FF6A60AD2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5025B-AD82-723B-7D0A-727352539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68E62-B267-4AE6-57AC-5793056D0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D3561-8708-226A-0C8B-21C8464A1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AB6AA-453B-6B53-B061-99EDEBD2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3265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7F091-AB37-B74B-3DC8-6972C141D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633" y="1709739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1584FB-D7DB-AEFE-739E-21FE6DCE6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82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82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82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9013F-29F9-14BE-824B-51284A5EB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649A8-2860-49F3-529F-29C1D7415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B2E73-888B-7DA5-89C0-D3924656B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3987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FBD79-9D04-24FA-15B7-315B3383C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6CABF-84CA-D991-CF33-580DE8BD0D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E45A24-6D76-4789-8AD6-6BC21B406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36DD1A-C3F0-A610-12CB-D20E81445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42C4BC-4A36-1C2F-8939-33F5F7271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CB84B-BE55-A4AC-9531-BEC3CD764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9324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88AFC-7D4F-D917-508E-195C69D29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845ACB-632D-239F-F03A-451D0C680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03EEBD-2D35-1E95-D7B4-1698AC17AE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76BF51-14CE-9459-F9B3-016173E788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F2D99D-B5E1-B854-8C08-F339D71AB9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614083-873D-59B8-82AE-CA84A0C1C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BC900C-C43F-595E-4BD7-85E6C947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4BBBEE-48AF-253F-EBA1-CFDC878E8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622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2E609-8BC5-81B8-0159-802A9D0CA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ED30D0-4925-745A-7958-E0537DBAF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5CFFA3-49B0-F9D8-F771-031B93351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3B985C-396B-A068-4CE0-CD4E298DE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7034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96CA44-81BE-1212-D9B3-0181926D8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C7DBBB-74FC-E628-1750-EDA54D5E1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D0C1C-8CCB-A497-F515-4B1CD1DBA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600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4AB61-1E8B-EED2-2FB7-5FD20482A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9C95E-6305-3E0E-6775-F60711949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60E53E-E6B7-1D13-BB69-05AB8683C2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5EE7E2-D912-8885-D9AB-CDB0DAE22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5ACE0-BA40-BBAA-8E70-0EB3337DB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B7431-7D52-1D71-D37F-CD0D56258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8126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FF51F-F760-B546-4A27-2E87A7BDA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81E6BC-04B7-C7B0-7AEE-D055681A4F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31416F-FF89-1636-76E6-FF86CFD706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CFAB7-1445-8813-30B7-AEB43C5C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2A504-9CFA-2FCE-72F0-4EA6BEEED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5E322-2033-C3EF-1A8C-BD05B181B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321733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F1595-24DB-8746-B11B-A74A2B151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6AECED-352A-7E9B-5BDB-933F7F392F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BACA0-4248-B30D-C4D1-34E8A2380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1554F-451B-E831-A2A6-C39673D4A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13E52-5A71-2780-C31D-B73E2DF3C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5293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24859D-7882-3356-361D-3F0DC4AC38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B97C98-988F-DB9C-F357-CC4CE21BFD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B2D9A-3ECB-0CF5-35ED-920E8C6AE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3C618-CEB1-3A29-C5DF-6B658FBEE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0865A-44A3-9DA8-58B6-2F2873019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32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C95CBE-A763-00CC-2C82-23F2ECF7F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276C4C-3A07-658C-2EE0-D622FE0B9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59A6B-ACF3-D414-EEBD-FF1665CAC7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0652C-9771-4C8A-3544-5F04133469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B8EC3-7A68-3330-8912-3D87E0F963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68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.sv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893"/>
            <a:ext cx="6581966" cy="6856214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893"/>
            <a:ext cx="12188520" cy="63991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97" y="1360109"/>
            <a:ext cx="5942052" cy="100557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IN" sz="5798" b="1" dirty="0" err="1">
                <a:solidFill>
                  <a:srgbClr val="2E7D32"/>
                </a:solidFill>
              </a:rPr>
              <a:t>EVgene</a:t>
            </a:r>
            <a:endParaRPr sz="5798" b="1" dirty="0">
              <a:solidFill>
                <a:srgbClr val="2E7D3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081" y="3977496"/>
            <a:ext cx="11274358" cy="2285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g_slide1_cover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971" y="1083449"/>
            <a:ext cx="5759220" cy="575922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B3789D85-5F4F-0D75-2101-02069D6E1D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35325" y="351708"/>
            <a:ext cx="3113310" cy="462789"/>
          </a:xfrm>
          <a:prstGeom prst="rect">
            <a:avLst/>
          </a:prstGeom>
        </p:spPr>
      </p:pic>
      <p:sp>
        <p:nvSpPr>
          <p:cNvPr id="24" name="Title 7">
            <a:extLst>
              <a:ext uri="{FF2B5EF4-FFF2-40B4-BE49-F238E27FC236}">
                <a16:creationId xmlns:a16="http://schemas.microsoft.com/office/drawing/2014/main" id="{D0035379-D6A7-4F75-4634-36D14FC7491D}"/>
              </a:ext>
            </a:extLst>
          </p:cNvPr>
          <p:cNvSpPr txBox="1">
            <a:spLocks/>
          </p:cNvSpPr>
          <p:nvPr/>
        </p:nvSpPr>
        <p:spPr bwMode="auto">
          <a:xfrm>
            <a:off x="-317893" y="232714"/>
            <a:ext cx="7475812" cy="1585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6" tIns="45708" rIns="91416" bIns="45708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3999" b="1" dirty="0">
                <a:solidFill>
                  <a:srgbClr val="FF0000"/>
                </a:solidFill>
                <a:latin typeface="Garamond" panose="02020404030301010803" pitchFamily="18" charset="0"/>
              </a:rPr>
              <a:t>BGI HACKATHON 2026</a:t>
            </a:r>
            <a:endParaRPr lang="en-IN" sz="3999" b="1" dirty="0">
              <a:solidFill>
                <a:srgbClr val="FF0000"/>
              </a:solidFill>
              <a:latin typeface="Garamond" panose="02020404030301010803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43A5BC-D980-435D-2701-945EFA2ED23B}"/>
              </a:ext>
            </a:extLst>
          </p:cNvPr>
          <p:cNvSpPr txBox="1"/>
          <p:nvPr/>
        </p:nvSpPr>
        <p:spPr>
          <a:xfrm>
            <a:off x="633578" y="1888984"/>
            <a:ext cx="8101747" cy="4581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664" indent="-285664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99" b="1" dirty="0">
                <a:latin typeface="Arial" panose="020B0604020202020204" pitchFamily="34" charset="0"/>
                <a:cs typeface="Arial" panose="020B0604020202020204" pitchFamily="34" charset="0"/>
              </a:rPr>
              <a:t>Theme- Smart Mobility , </a:t>
            </a:r>
            <a:r>
              <a:rPr lang="en-US" sz="1999" b="1" dirty="0" err="1">
                <a:latin typeface="Arial" panose="020B0604020202020204" pitchFamily="34" charset="0"/>
                <a:cs typeface="Arial" panose="020B0604020202020204" pitchFamily="34" charset="0"/>
              </a:rPr>
              <a:t>Evs</a:t>
            </a:r>
            <a:r>
              <a:rPr lang="en-US" sz="1999" b="1" dirty="0">
                <a:latin typeface="Arial" panose="020B0604020202020204" pitchFamily="34" charset="0"/>
                <a:cs typeface="Arial" panose="020B0604020202020204" pitchFamily="34" charset="0"/>
              </a:rPr>
              <a:t> &amp; Logistics</a:t>
            </a:r>
          </a:p>
          <a:p>
            <a:pPr marL="285664" indent="-285664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99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BT2P2</a:t>
            </a:r>
          </a:p>
          <a:p>
            <a:pPr marL="285664" indent="-285664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99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EV Charging</a:t>
            </a:r>
          </a:p>
          <a:p>
            <a:pPr algn="just">
              <a:lnSpc>
                <a:spcPct val="200000"/>
              </a:lnSpc>
            </a:pPr>
            <a:r>
              <a:rPr lang="en-US" sz="1999" b="1" dirty="0">
                <a:latin typeface="Arial" panose="020B0604020202020204" pitchFamily="34" charset="0"/>
                <a:cs typeface="Arial" panose="020B0604020202020204" pitchFamily="34" charset="0"/>
              </a:rPr>
              <a:t>    Station Locator &amp; Slot Booking System</a:t>
            </a:r>
          </a:p>
          <a:p>
            <a:pPr marL="285664" indent="-285664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99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Category- Software</a:t>
            </a:r>
          </a:p>
          <a:p>
            <a:pPr marL="285664" indent="-285664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99" b="1" dirty="0">
                <a:latin typeface="Arial" panose="020B0604020202020204" pitchFamily="34" charset="0"/>
                <a:cs typeface="Arial" panose="020B0604020202020204" pitchFamily="34" charset="0"/>
              </a:rPr>
              <a:t>Team ID- 1696</a:t>
            </a:r>
          </a:p>
          <a:p>
            <a:pPr marL="285664" indent="-285664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99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1999" b="1" dirty="0" err="1">
                <a:latin typeface="Arial" panose="020B0604020202020204" pitchFamily="34" charset="0"/>
                <a:cs typeface="Arial" panose="020B0604020202020204" pitchFamily="34" charset="0"/>
              </a:rPr>
              <a:t>VoltX</a:t>
            </a:r>
            <a:endParaRPr lang="en-IN" sz="1999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319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/>
          <p:nvPr/>
        </p:nvSpPr>
        <p:spPr>
          <a:xfrm>
            <a:off x="0" y="960120"/>
            <a:ext cx="12188952" cy="50292"/>
          </a:xfrm>
          <a:prstGeom prst="rect">
            <a:avLst/>
          </a:prstGeom>
          <a:solidFill>
            <a:srgbClr val="2EA85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5"/>
          <p:cNvSpPr txBox="1"/>
          <p:nvPr/>
        </p:nvSpPr>
        <p:spPr>
          <a:xfrm>
            <a:off x="384048" y="146304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SOLUTION OVERVIEW</a:t>
            </a:r>
            <a:endParaRPr/>
          </a:p>
        </p:txBody>
      </p:sp>
      <p:sp>
        <p:nvSpPr>
          <p:cNvPr id="161" name="Google Shape;161;p25"/>
          <p:cNvSpPr/>
          <p:nvPr/>
        </p:nvSpPr>
        <p:spPr>
          <a:xfrm>
            <a:off x="9464040" y="210312"/>
            <a:ext cx="2377440" cy="475488"/>
          </a:xfrm>
          <a:prstGeom prst="rect">
            <a:avLst/>
          </a:prstGeom>
          <a:solidFill>
            <a:srgbClr val="1A6B35"/>
          </a:solidFill>
          <a:ln w="12700" cap="flat" cmpd="sng">
            <a:solidFill>
              <a:srgbClr val="2EA85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5"/>
          <p:cNvSpPr txBox="1"/>
          <p:nvPr/>
        </p:nvSpPr>
        <p:spPr>
          <a:xfrm>
            <a:off x="9491472" y="228600"/>
            <a:ext cx="23317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Idea  &gt;&gt;  EarthCharge</a:t>
            </a:r>
            <a:endParaRPr/>
          </a:p>
        </p:txBody>
      </p:sp>
      <p:sp>
        <p:nvSpPr>
          <p:cNvPr id="163" name="Google Shape;163;p25"/>
          <p:cNvSpPr/>
          <p:nvPr/>
        </p:nvSpPr>
        <p:spPr>
          <a:xfrm>
            <a:off x="0" y="1010412"/>
            <a:ext cx="12188952" cy="329184"/>
          </a:xfrm>
          <a:prstGeom prst="rect">
            <a:avLst/>
          </a:prstGeom>
          <a:solidFill>
            <a:srgbClr val="F0FAF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5"/>
          <p:cNvSpPr/>
          <p:nvPr/>
        </p:nvSpPr>
        <p:spPr>
          <a:xfrm>
            <a:off x="292608" y="1389888"/>
            <a:ext cx="3950208" cy="2633472"/>
          </a:xfrm>
          <a:prstGeom prst="rect">
            <a:avLst/>
          </a:prstGeom>
          <a:solidFill>
            <a:srgbClr val="F7FEF9"/>
          </a:solidFill>
          <a:ln w="10150" cap="flat" cmpd="sng">
            <a:solidFill>
              <a:srgbClr val="2EA85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5"/>
          <p:cNvSpPr/>
          <p:nvPr/>
        </p:nvSpPr>
        <p:spPr>
          <a:xfrm>
            <a:off x="292608" y="1389888"/>
            <a:ext cx="3950208" cy="54864"/>
          </a:xfrm>
          <a:prstGeom prst="rect">
            <a:avLst/>
          </a:prstGeom>
          <a:solidFill>
            <a:srgbClr val="1A6B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5"/>
          <p:cNvSpPr/>
          <p:nvPr/>
        </p:nvSpPr>
        <p:spPr>
          <a:xfrm>
            <a:off x="292608" y="1444752"/>
            <a:ext cx="3950208" cy="384048"/>
          </a:xfrm>
          <a:prstGeom prst="rect">
            <a:avLst/>
          </a:prstGeom>
          <a:solidFill>
            <a:srgbClr val="D6F0D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5"/>
          <p:cNvSpPr txBox="1"/>
          <p:nvPr/>
        </p:nvSpPr>
        <p:spPr>
          <a:xfrm>
            <a:off x="420624" y="1481328"/>
            <a:ext cx="3767328" cy="28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1A6B35"/>
                </a:solidFill>
                <a:latin typeface="Calibri"/>
                <a:ea typeface="Calibri"/>
                <a:cs typeface="Calibri"/>
                <a:sym typeface="Calibri"/>
              </a:rPr>
              <a:t>Map &amp; Core Platform</a:t>
            </a:r>
            <a:endParaRPr dirty="0"/>
          </a:p>
        </p:txBody>
      </p:sp>
      <p:sp>
        <p:nvSpPr>
          <p:cNvPr id="169" name="Google Shape;169;p25"/>
          <p:cNvSpPr/>
          <p:nvPr/>
        </p:nvSpPr>
        <p:spPr>
          <a:xfrm>
            <a:off x="402336" y="1865376"/>
            <a:ext cx="3730752" cy="12801"/>
          </a:xfrm>
          <a:prstGeom prst="rect">
            <a:avLst/>
          </a:prstGeom>
          <a:solidFill>
            <a:srgbClr val="2EA85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5"/>
          <p:cNvSpPr txBox="1"/>
          <p:nvPr/>
        </p:nvSpPr>
        <p:spPr>
          <a:xfrm>
            <a:off x="420624" y="1762928"/>
            <a:ext cx="3749100" cy="2606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0" rIns="36575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  <a:highlight>
                  <a:schemeClr val="lt1"/>
                </a:highlight>
              </a:rPr>
              <a:t>• 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chemeClr val="lt1"/>
                </a:highlight>
              </a:rPr>
              <a:t>Find nearby EV charging stations instantly using your phone's GPS</a:t>
            </a:r>
            <a:endParaRPr sz="1200" dirty="0">
              <a:solidFill>
                <a:schemeClr val="tx1">
                  <a:lumMod val="85000"/>
                  <a:lumOff val="15000"/>
                </a:schemeClr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chemeClr val="lt1"/>
                </a:highlight>
              </a:rPr>
              <a:t>• See a live map showing which charging slots are free or busy right now</a:t>
            </a:r>
            <a:endParaRPr sz="1200" dirty="0">
              <a:solidFill>
                <a:schemeClr val="tx1">
                  <a:lumMod val="85000"/>
                  <a:lumOff val="15000"/>
                </a:schemeClr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chemeClr val="lt1"/>
                </a:highlight>
              </a:rPr>
              <a:t>• Get the best route to the nearest available charger automatically</a:t>
            </a:r>
            <a:endParaRPr sz="1200" dirty="0">
              <a:solidFill>
                <a:schemeClr val="tx1">
                  <a:lumMod val="85000"/>
                  <a:lumOff val="15000"/>
                </a:schemeClr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chemeClr val="lt1"/>
                </a:highlight>
              </a:rPr>
              <a:t>• View photos, reviews, pricing, and hours before you arrive at any station</a:t>
            </a:r>
            <a:endParaRPr sz="1200" dirty="0">
              <a:solidFill>
                <a:schemeClr val="tx1">
                  <a:lumMod val="85000"/>
                  <a:lumOff val="15000"/>
                </a:schemeClr>
              </a:solidFill>
              <a:highlight>
                <a:schemeClr val="lt1"/>
              </a:highlight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900" dirty="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171" name="Google Shape;171;p25"/>
          <p:cNvSpPr/>
          <p:nvPr/>
        </p:nvSpPr>
        <p:spPr>
          <a:xfrm>
            <a:off x="292608" y="4059936"/>
            <a:ext cx="3950208" cy="2633472"/>
          </a:xfrm>
          <a:prstGeom prst="rect">
            <a:avLst/>
          </a:prstGeom>
          <a:solidFill>
            <a:srgbClr val="F7FEF9"/>
          </a:solidFill>
          <a:ln w="10150" cap="flat" cmpd="sng">
            <a:solidFill>
              <a:srgbClr val="2EA85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5"/>
          <p:cNvSpPr/>
          <p:nvPr/>
        </p:nvSpPr>
        <p:spPr>
          <a:xfrm>
            <a:off x="292608" y="4059936"/>
            <a:ext cx="3950208" cy="54864"/>
          </a:xfrm>
          <a:prstGeom prst="rect">
            <a:avLst/>
          </a:prstGeom>
          <a:solidFill>
            <a:srgbClr val="1A6B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5"/>
          <p:cNvSpPr/>
          <p:nvPr/>
        </p:nvSpPr>
        <p:spPr>
          <a:xfrm>
            <a:off x="292608" y="4114800"/>
            <a:ext cx="3950208" cy="384048"/>
          </a:xfrm>
          <a:prstGeom prst="rect">
            <a:avLst/>
          </a:prstGeom>
          <a:solidFill>
            <a:srgbClr val="D6F0D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420624" y="4151376"/>
            <a:ext cx="3767328" cy="28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1A6B35"/>
                </a:solidFill>
                <a:latin typeface="Calibri"/>
                <a:ea typeface="Calibri"/>
                <a:cs typeface="Calibri"/>
                <a:sym typeface="Calibri"/>
              </a:rPr>
              <a:t>Smart Booking System</a:t>
            </a:r>
            <a:endParaRPr dirty="0"/>
          </a:p>
        </p:txBody>
      </p:sp>
      <p:sp>
        <p:nvSpPr>
          <p:cNvPr id="175" name="Google Shape;175;p25"/>
          <p:cNvSpPr/>
          <p:nvPr/>
        </p:nvSpPr>
        <p:spPr>
          <a:xfrm>
            <a:off x="402336" y="4535424"/>
            <a:ext cx="3730752" cy="12801"/>
          </a:xfrm>
          <a:prstGeom prst="rect">
            <a:avLst/>
          </a:prstGeom>
          <a:solidFill>
            <a:srgbClr val="2EA85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5"/>
          <p:cNvSpPr txBox="1"/>
          <p:nvPr/>
        </p:nvSpPr>
        <p:spPr>
          <a:xfrm>
            <a:off x="310950" y="4590300"/>
            <a:ext cx="3858900" cy="2420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0" rIns="3657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 dirty="0">
                <a:solidFill>
                  <a:srgbClr val="2EA8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dirty="0">
                <a:solidFill>
                  <a:srgbClr val="2A3A2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Calibri"/>
                <a:cs typeface="Calibri"/>
                <a:sym typeface="Calibri"/>
              </a:rPr>
              <a:t>Reserve a charging slot in advance so you never wait in a queue</a:t>
            </a:r>
            <a:endParaRPr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Calibri"/>
                <a:cs typeface="Calibri"/>
                <a:sym typeface="Calibri"/>
              </a:rPr>
              <a:t>• Live updates keep your booking status synced across all your devices instantly</a:t>
            </a:r>
            <a:endParaRPr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Calibri"/>
                <a:cs typeface="Calibri"/>
                <a:sym typeface="Calibri"/>
              </a:rPr>
              <a:t>• Book, change, or cancel your slot in one tap with instant confirmation</a:t>
            </a:r>
            <a:endParaRPr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Calibri"/>
                <a:cs typeface="Calibri"/>
                <a:sym typeface="Calibri"/>
              </a:rPr>
              <a:t>• Get automatic reminders and alerts so you always arrive on time</a:t>
            </a:r>
            <a:endParaRPr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050" dirty="0">
              <a:solidFill>
                <a:srgbClr val="2A3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5"/>
          <p:cNvSpPr/>
          <p:nvPr/>
        </p:nvSpPr>
        <p:spPr>
          <a:xfrm>
            <a:off x="4389120" y="1389888"/>
            <a:ext cx="1252728" cy="932688"/>
          </a:xfrm>
          <a:prstGeom prst="rect">
            <a:avLst/>
          </a:prstGeom>
          <a:solidFill>
            <a:srgbClr val="0D2B17"/>
          </a:solidFill>
          <a:ln w="9525" cap="flat" cmpd="sng">
            <a:solidFill>
              <a:srgbClr val="2EA85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5"/>
          <p:cNvSpPr txBox="1"/>
          <p:nvPr/>
        </p:nvSpPr>
        <p:spPr>
          <a:xfrm>
            <a:off x="4389120" y="1444752"/>
            <a:ext cx="125272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2EA855"/>
                </a:solidFill>
                <a:latin typeface="Calibri"/>
                <a:ea typeface="Calibri"/>
                <a:cs typeface="Calibri"/>
                <a:sym typeface="Calibri"/>
              </a:rPr>
              <a:t>68%</a:t>
            </a:r>
            <a:endParaRPr/>
          </a:p>
        </p:txBody>
      </p:sp>
      <p:sp>
        <p:nvSpPr>
          <p:cNvPr id="179" name="Google Shape;179;p25"/>
          <p:cNvSpPr txBox="1"/>
          <p:nvPr/>
        </p:nvSpPr>
        <p:spPr>
          <a:xfrm>
            <a:off x="4389120" y="1819656"/>
            <a:ext cx="125272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D6F0DE"/>
                </a:solidFill>
                <a:latin typeface="Calibri"/>
                <a:ea typeface="Calibri"/>
                <a:cs typeface="Calibri"/>
                <a:sym typeface="Calibri"/>
              </a:rPr>
              <a:t>EV owners cite</a:t>
            </a:r>
            <a:br>
              <a:rPr lang="en-US" sz="850" b="0" i="0" u="none" strike="noStrike" cap="none">
                <a:solidFill>
                  <a:srgbClr val="D6F0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850" b="0" i="0" u="none" strike="noStrike" cap="none">
                <a:solidFill>
                  <a:srgbClr val="D6F0DE"/>
                </a:solidFill>
                <a:latin typeface="Calibri"/>
                <a:ea typeface="Calibri"/>
                <a:cs typeface="Calibri"/>
                <a:sym typeface="Calibri"/>
              </a:rPr>
              <a:t>range anxiety</a:t>
            </a:r>
            <a:endParaRPr/>
          </a:p>
        </p:txBody>
      </p:sp>
      <p:sp>
        <p:nvSpPr>
          <p:cNvPr id="180" name="Google Shape;180;p25"/>
          <p:cNvSpPr/>
          <p:nvPr/>
        </p:nvSpPr>
        <p:spPr>
          <a:xfrm>
            <a:off x="5687568" y="1389888"/>
            <a:ext cx="1252728" cy="932688"/>
          </a:xfrm>
          <a:prstGeom prst="rect">
            <a:avLst/>
          </a:prstGeom>
          <a:solidFill>
            <a:srgbClr val="0D2B17"/>
          </a:solidFill>
          <a:ln w="9525" cap="flat" cmpd="sng">
            <a:solidFill>
              <a:srgbClr val="2EA85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5"/>
          <p:cNvSpPr txBox="1"/>
          <p:nvPr/>
        </p:nvSpPr>
        <p:spPr>
          <a:xfrm>
            <a:off x="5687568" y="1444752"/>
            <a:ext cx="125272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2EA855"/>
                </a:solidFill>
                <a:latin typeface="Calibri"/>
                <a:ea typeface="Calibri"/>
                <a:cs typeface="Calibri"/>
                <a:sym typeface="Calibri"/>
              </a:rPr>
              <a:t>3x</a:t>
            </a:r>
            <a:endParaRPr/>
          </a:p>
        </p:txBody>
      </p:sp>
      <p:sp>
        <p:nvSpPr>
          <p:cNvPr id="182" name="Google Shape;182;p25"/>
          <p:cNvSpPr txBox="1"/>
          <p:nvPr/>
        </p:nvSpPr>
        <p:spPr>
          <a:xfrm>
            <a:off x="5687568" y="1819656"/>
            <a:ext cx="125272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D6F0DE"/>
                </a:solidFill>
                <a:latin typeface="Calibri"/>
                <a:ea typeface="Calibri"/>
                <a:cs typeface="Calibri"/>
                <a:sym typeface="Calibri"/>
              </a:rPr>
              <a:t>Faster booking</a:t>
            </a:r>
            <a:br>
              <a:rPr lang="en-US" sz="850" b="0" i="0" u="none" strike="noStrike" cap="none">
                <a:solidFill>
                  <a:srgbClr val="D6F0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850" b="0" i="0" u="none" strike="noStrike" cap="none">
                <a:solidFill>
                  <a:srgbClr val="D6F0DE"/>
                </a:solidFill>
                <a:latin typeface="Calibri"/>
                <a:ea typeface="Calibri"/>
                <a:cs typeface="Calibri"/>
                <a:sym typeface="Calibri"/>
              </a:rPr>
              <a:t>vs walk-in</a:t>
            </a:r>
            <a:endParaRPr/>
          </a:p>
        </p:txBody>
      </p:sp>
      <p:sp>
        <p:nvSpPr>
          <p:cNvPr id="183" name="Google Shape;183;p25"/>
          <p:cNvSpPr/>
          <p:nvPr/>
        </p:nvSpPr>
        <p:spPr>
          <a:xfrm>
            <a:off x="6986016" y="1389888"/>
            <a:ext cx="1252728" cy="932688"/>
          </a:xfrm>
          <a:prstGeom prst="rect">
            <a:avLst/>
          </a:prstGeom>
          <a:solidFill>
            <a:srgbClr val="0D2B17"/>
          </a:solidFill>
          <a:ln w="9525" cap="flat" cmpd="sng">
            <a:solidFill>
              <a:srgbClr val="2EA85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5"/>
          <p:cNvSpPr txBox="1"/>
          <p:nvPr/>
        </p:nvSpPr>
        <p:spPr>
          <a:xfrm>
            <a:off x="6986016" y="1444752"/>
            <a:ext cx="125272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2EA855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/>
          </a:p>
        </p:txBody>
      </p:sp>
      <p:sp>
        <p:nvSpPr>
          <p:cNvPr id="185" name="Google Shape;185;p25"/>
          <p:cNvSpPr txBox="1"/>
          <p:nvPr/>
        </p:nvSpPr>
        <p:spPr>
          <a:xfrm>
            <a:off x="6986016" y="1819656"/>
            <a:ext cx="125272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D6F0DE"/>
                </a:solidFill>
                <a:latin typeface="Calibri"/>
                <a:ea typeface="Calibri"/>
                <a:cs typeface="Calibri"/>
                <a:sym typeface="Calibri"/>
              </a:rPr>
              <a:t>Carbon-neutral</a:t>
            </a:r>
            <a:br>
              <a:rPr lang="en-US" sz="850" b="0" i="0" u="none" strike="noStrike" cap="none">
                <a:solidFill>
                  <a:srgbClr val="D6F0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850" b="0" i="0" u="none" strike="noStrike" cap="none">
                <a:solidFill>
                  <a:srgbClr val="D6F0DE"/>
                </a:solidFill>
                <a:latin typeface="Calibri"/>
                <a:ea typeface="Calibri"/>
                <a:cs typeface="Calibri"/>
                <a:sym typeface="Calibri"/>
              </a:rPr>
              <a:t>workflow</a:t>
            </a:r>
            <a:endParaRPr/>
          </a:p>
        </p:txBody>
      </p:sp>
      <p:sp>
        <p:nvSpPr>
          <p:cNvPr id="186" name="Google Shape;186;p25"/>
          <p:cNvSpPr/>
          <p:nvPr/>
        </p:nvSpPr>
        <p:spPr>
          <a:xfrm>
            <a:off x="4389120" y="2359152"/>
            <a:ext cx="3858768" cy="1664207"/>
          </a:xfrm>
          <a:prstGeom prst="rect">
            <a:avLst/>
          </a:prstGeom>
          <a:solidFill>
            <a:srgbClr val="F0FAF3"/>
          </a:solidFill>
          <a:ln w="9525" cap="flat" cmpd="sng">
            <a:solidFill>
              <a:srgbClr val="2EA85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5"/>
          <p:cNvSpPr/>
          <p:nvPr/>
        </p:nvSpPr>
        <p:spPr>
          <a:xfrm>
            <a:off x="4389120" y="2359152"/>
            <a:ext cx="3858768" cy="50292"/>
          </a:xfrm>
          <a:prstGeom prst="rect">
            <a:avLst/>
          </a:prstGeom>
          <a:solidFill>
            <a:srgbClr val="1A6B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5"/>
          <p:cNvSpPr/>
          <p:nvPr/>
        </p:nvSpPr>
        <p:spPr>
          <a:xfrm>
            <a:off x="4389120" y="2409444"/>
            <a:ext cx="3858768" cy="374904"/>
          </a:xfrm>
          <a:prstGeom prst="rect">
            <a:avLst/>
          </a:prstGeom>
          <a:solidFill>
            <a:srgbClr val="D6F0D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5"/>
          <p:cNvSpPr txBox="1"/>
          <p:nvPr/>
        </p:nvSpPr>
        <p:spPr>
          <a:xfrm>
            <a:off x="4517136" y="2432304"/>
            <a:ext cx="3675887" cy="28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1A6B35"/>
                </a:solidFill>
                <a:latin typeface="Calibri"/>
                <a:ea typeface="Calibri"/>
                <a:cs typeface="Calibri"/>
                <a:sym typeface="Calibri"/>
              </a:rPr>
              <a:t>Why </a:t>
            </a:r>
            <a:r>
              <a:rPr lang="en-US" b="1" i="0" u="none" strike="noStrike" cap="none" dirty="0" err="1">
                <a:solidFill>
                  <a:srgbClr val="1A6B35"/>
                </a:solidFill>
                <a:latin typeface="Calibri"/>
                <a:ea typeface="Calibri"/>
                <a:cs typeface="Calibri"/>
                <a:sym typeface="Calibri"/>
              </a:rPr>
              <a:t>EVgenee</a:t>
            </a:r>
            <a:r>
              <a:rPr lang="en-US" b="1" i="0" u="none" strike="noStrike" cap="none" dirty="0">
                <a:solidFill>
                  <a:srgbClr val="1A6B35"/>
                </a:solidFill>
                <a:latin typeface="Calibri"/>
                <a:ea typeface="Calibri"/>
                <a:cs typeface="Calibri"/>
                <a:sym typeface="Calibri"/>
              </a:rPr>
              <a:t> Wins</a:t>
            </a:r>
            <a:endParaRPr dirty="0"/>
          </a:p>
        </p:txBody>
      </p:sp>
      <p:sp>
        <p:nvSpPr>
          <p:cNvPr id="190" name="Google Shape;190;p25"/>
          <p:cNvSpPr txBox="1"/>
          <p:nvPr/>
        </p:nvSpPr>
        <p:spPr>
          <a:xfrm>
            <a:off x="4517136" y="2834640"/>
            <a:ext cx="3657599" cy="1174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Calibri"/>
                <a:cs typeface="Calibri"/>
                <a:sym typeface="Calibri"/>
              </a:rPr>
              <a:t>EV drivers face uncertainty before every trip.</a:t>
            </a:r>
            <a:endParaRPr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Calibri"/>
                <a:cs typeface="Calibri"/>
                <a:sym typeface="Calibri"/>
              </a:rPr>
              <a:t>EVgenee</a:t>
            </a:r>
            <a:r>
              <a:rPr lang="en-US" sz="1200" b="0" i="0" u="none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Calibri"/>
                <a:cs typeface="Calibri"/>
                <a:sym typeface="Calibri"/>
              </a:rPr>
              <a:t> delivers certainty — live slot data</a:t>
            </a:r>
            <a:endParaRPr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Calibri"/>
                <a:cs typeface="Calibri"/>
                <a:sym typeface="Calibri"/>
              </a:rPr>
              <a:t>plus instant booking means users arrive to a</a:t>
            </a:r>
            <a:endParaRPr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Calibri"/>
                <a:cs typeface="Calibri"/>
                <a:sym typeface="Calibri"/>
              </a:rPr>
              <a:t>guaranteed charger, cutting idle time &amp; emissions.</a:t>
            </a:r>
            <a:endParaRPr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Calibri"/>
                <a:cs typeface="Calibri"/>
                <a:sym typeface="Calibri"/>
              </a:rPr>
              <a:t>Result: faster EV adoption, greener cities</a:t>
            </a:r>
            <a:r>
              <a:rPr lang="en-US" sz="1200" b="0" i="0" u="none" strike="noStrike" cap="none" dirty="0">
                <a:solidFill>
                  <a:srgbClr val="2A3A2E"/>
                </a:solidFill>
                <a:latin typeface="+mn-lt"/>
                <a:ea typeface="Calibri"/>
                <a:cs typeface="Calibri"/>
                <a:sym typeface="Calibri"/>
              </a:rPr>
              <a:t>.</a:t>
            </a:r>
            <a:endParaRPr sz="1200" dirty="0">
              <a:latin typeface="+mn-lt"/>
            </a:endParaRPr>
          </a:p>
        </p:txBody>
      </p:sp>
      <p:sp>
        <p:nvSpPr>
          <p:cNvPr id="191" name="Google Shape;191;p25"/>
          <p:cNvSpPr/>
          <p:nvPr/>
        </p:nvSpPr>
        <p:spPr>
          <a:xfrm>
            <a:off x="4389120" y="4059936"/>
            <a:ext cx="3858768" cy="2633472"/>
          </a:xfrm>
          <a:prstGeom prst="rect">
            <a:avLst/>
          </a:prstGeom>
          <a:solidFill>
            <a:srgbClr val="F7FEF9"/>
          </a:solidFill>
          <a:ln w="10150" cap="flat" cmpd="sng">
            <a:solidFill>
              <a:srgbClr val="2EA85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5"/>
          <p:cNvSpPr/>
          <p:nvPr/>
        </p:nvSpPr>
        <p:spPr>
          <a:xfrm>
            <a:off x="4389120" y="4059936"/>
            <a:ext cx="3858768" cy="50292"/>
          </a:xfrm>
          <a:prstGeom prst="rect">
            <a:avLst/>
          </a:prstGeom>
          <a:solidFill>
            <a:srgbClr val="1A6B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5"/>
          <p:cNvSpPr/>
          <p:nvPr/>
        </p:nvSpPr>
        <p:spPr>
          <a:xfrm>
            <a:off x="4389120" y="4110228"/>
            <a:ext cx="3858768" cy="374904"/>
          </a:xfrm>
          <a:prstGeom prst="rect">
            <a:avLst/>
          </a:prstGeom>
          <a:solidFill>
            <a:srgbClr val="D6F0D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5"/>
          <p:cNvSpPr txBox="1"/>
          <p:nvPr/>
        </p:nvSpPr>
        <p:spPr>
          <a:xfrm>
            <a:off x="4517136" y="4133088"/>
            <a:ext cx="3675887" cy="28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1A6B35"/>
                </a:solidFill>
                <a:latin typeface="Calibri"/>
                <a:ea typeface="Calibri"/>
                <a:cs typeface="Calibri"/>
                <a:sym typeface="Calibri"/>
              </a:rPr>
              <a:t>How It Works — 4 Simple Steps</a:t>
            </a:r>
            <a:endParaRPr dirty="0"/>
          </a:p>
        </p:txBody>
      </p:sp>
      <p:sp>
        <p:nvSpPr>
          <p:cNvPr id="195" name="Google Shape;195;p25"/>
          <p:cNvSpPr/>
          <p:nvPr/>
        </p:nvSpPr>
        <p:spPr>
          <a:xfrm>
            <a:off x="4517136" y="4562856"/>
            <a:ext cx="329184" cy="329184"/>
          </a:xfrm>
          <a:prstGeom prst="rect">
            <a:avLst/>
          </a:prstGeom>
          <a:solidFill>
            <a:srgbClr val="1A6B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5"/>
          <p:cNvSpPr txBox="1"/>
          <p:nvPr/>
        </p:nvSpPr>
        <p:spPr>
          <a:xfrm>
            <a:off x="4517136" y="4590288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99" name="Google Shape;199;p25"/>
          <p:cNvSpPr/>
          <p:nvPr/>
        </p:nvSpPr>
        <p:spPr>
          <a:xfrm>
            <a:off x="4517136" y="5093208"/>
            <a:ext cx="329184" cy="329184"/>
          </a:xfrm>
          <a:prstGeom prst="rect">
            <a:avLst/>
          </a:prstGeom>
          <a:solidFill>
            <a:srgbClr val="1A6B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5"/>
          <p:cNvSpPr txBox="1"/>
          <p:nvPr/>
        </p:nvSpPr>
        <p:spPr>
          <a:xfrm>
            <a:off x="4517136" y="5120640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203" name="Google Shape;203;p25"/>
          <p:cNvSpPr/>
          <p:nvPr/>
        </p:nvSpPr>
        <p:spPr>
          <a:xfrm>
            <a:off x="4517136" y="5623560"/>
            <a:ext cx="329184" cy="329184"/>
          </a:xfrm>
          <a:prstGeom prst="rect">
            <a:avLst/>
          </a:prstGeom>
          <a:solidFill>
            <a:srgbClr val="1A6B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5"/>
          <p:cNvSpPr txBox="1"/>
          <p:nvPr/>
        </p:nvSpPr>
        <p:spPr>
          <a:xfrm>
            <a:off x="4517136" y="5650992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207" name="Google Shape;207;p25"/>
          <p:cNvSpPr/>
          <p:nvPr/>
        </p:nvSpPr>
        <p:spPr>
          <a:xfrm>
            <a:off x="4517136" y="6153912"/>
            <a:ext cx="329184" cy="329184"/>
          </a:xfrm>
          <a:prstGeom prst="rect">
            <a:avLst/>
          </a:prstGeom>
          <a:solidFill>
            <a:srgbClr val="1A6B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5"/>
          <p:cNvSpPr txBox="1"/>
          <p:nvPr/>
        </p:nvSpPr>
        <p:spPr>
          <a:xfrm>
            <a:off x="4517136" y="6181344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B7C97DB-D8BC-A575-D61E-BFA5DC5CEC5B}"/>
              </a:ext>
            </a:extLst>
          </p:cNvPr>
          <p:cNvGrpSpPr/>
          <p:nvPr/>
        </p:nvGrpSpPr>
        <p:grpSpPr>
          <a:xfrm>
            <a:off x="4901183" y="4532672"/>
            <a:ext cx="4210824" cy="2080226"/>
            <a:chOff x="4901183" y="4532672"/>
            <a:chExt cx="4210824" cy="2080226"/>
          </a:xfrm>
        </p:grpSpPr>
        <p:sp>
          <p:nvSpPr>
            <p:cNvPr id="197" name="Google Shape;197;p25"/>
            <p:cNvSpPr txBox="1"/>
            <p:nvPr/>
          </p:nvSpPr>
          <p:spPr>
            <a:xfrm>
              <a:off x="4901183" y="4532672"/>
              <a:ext cx="1051560" cy="2585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4850" tIns="36575" rIns="36575" bIns="365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Calibri"/>
                  <a:cs typeface="Calibri"/>
                  <a:sym typeface="Calibri"/>
                </a:rPr>
                <a:t>Open App</a:t>
              </a:r>
              <a:endParaRPr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endParaRPr>
            </a:p>
          </p:txBody>
        </p:sp>
        <p:sp>
          <p:nvSpPr>
            <p:cNvPr id="198" name="Google Shape;198;p25"/>
            <p:cNvSpPr txBox="1"/>
            <p:nvPr/>
          </p:nvSpPr>
          <p:spPr>
            <a:xfrm>
              <a:off x="5641848" y="4538767"/>
              <a:ext cx="3246120" cy="443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4850" tIns="36575" rIns="36575" bIns="365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Calibri"/>
                  <a:cs typeface="Calibri"/>
                  <a:sym typeface="Calibri"/>
                </a:rPr>
                <a:t>GPS locates nearest available EV stations 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Calibri"/>
                  <a:cs typeface="Calibri"/>
                  <a:sym typeface="Calibri"/>
                </a:rPr>
                <a:t>in real time</a:t>
              </a:r>
              <a:endParaRPr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endParaRPr>
            </a:p>
          </p:txBody>
        </p:sp>
        <p:sp>
          <p:nvSpPr>
            <p:cNvPr id="201" name="Google Shape;201;p25"/>
            <p:cNvSpPr txBox="1"/>
            <p:nvPr/>
          </p:nvSpPr>
          <p:spPr>
            <a:xfrm>
              <a:off x="4901183" y="5102352"/>
              <a:ext cx="1051560" cy="2585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4850" tIns="36575" rIns="36575" bIns="365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Calibri"/>
                  <a:cs typeface="Calibri"/>
                  <a:sym typeface="Calibri"/>
                </a:rPr>
                <a:t>View Map</a:t>
              </a:r>
              <a:endParaRPr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endParaRPr>
            </a:p>
          </p:txBody>
        </p:sp>
        <p:sp>
          <p:nvSpPr>
            <p:cNvPr id="202" name="Google Shape;202;p25"/>
            <p:cNvSpPr txBox="1"/>
            <p:nvPr/>
          </p:nvSpPr>
          <p:spPr>
            <a:xfrm>
              <a:off x="5641848" y="5101603"/>
              <a:ext cx="3246120" cy="443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4850" tIns="36575" rIns="36575" bIns="365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Calibri"/>
                  <a:cs typeface="Calibri"/>
                  <a:sym typeface="Calibri"/>
                </a:rPr>
                <a:t>Live map: slot count, charger spec 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Calibri"/>
                  <a:cs typeface="Calibri"/>
                  <a:sym typeface="Calibri"/>
                </a:rPr>
                <a:t>&amp; ETA to station</a:t>
              </a:r>
              <a:endParaRPr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endParaRPr>
            </a:p>
          </p:txBody>
        </p:sp>
        <p:sp>
          <p:nvSpPr>
            <p:cNvPr id="205" name="Google Shape;205;p25"/>
            <p:cNvSpPr txBox="1"/>
            <p:nvPr/>
          </p:nvSpPr>
          <p:spPr>
            <a:xfrm>
              <a:off x="4901183" y="5632704"/>
              <a:ext cx="1051560" cy="2585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4850" tIns="36575" rIns="36575" bIns="365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Calibri"/>
                  <a:cs typeface="Calibri"/>
                  <a:sym typeface="Calibri"/>
                </a:rPr>
                <a:t>Book Slot</a:t>
              </a:r>
              <a:endParaRPr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endParaRPr>
            </a:p>
          </p:txBody>
        </p:sp>
        <p:sp>
          <p:nvSpPr>
            <p:cNvPr id="206" name="Google Shape;206;p25"/>
            <p:cNvSpPr txBox="1"/>
            <p:nvPr/>
          </p:nvSpPr>
          <p:spPr>
            <a:xfrm>
              <a:off x="5641848" y="5623263"/>
              <a:ext cx="3246120" cy="443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4850" tIns="36575" rIns="36575" bIns="365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Calibri"/>
                  <a:cs typeface="Calibri"/>
                  <a:sym typeface="Calibri"/>
                </a:rPr>
                <a:t>Reserve in one tap — free cancellation,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Calibri"/>
                  <a:cs typeface="Calibri"/>
                  <a:sym typeface="Calibri"/>
                </a:rPr>
                <a:t> no penalties</a:t>
              </a:r>
              <a:endParaRPr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endParaRPr>
            </a:p>
          </p:txBody>
        </p:sp>
        <p:sp>
          <p:nvSpPr>
            <p:cNvPr id="209" name="Google Shape;209;p25"/>
            <p:cNvSpPr txBox="1"/>
            <p:nvPr/>
          </p:nvSpPr>
          <p:spPr>
            <a:xfrm>
              <a:off x="4901183" y="6163056"/>
              <a:ext cx="1051560" cy="2585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4850" tIns="36575" rIns="36575" bIns="365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Calibri"/>
                  <a:cs typeface="Calibri"/>
                  <a:sym typeface="Calibri"/>
                </a:rPr>
                <a:t>Charge &amp; Go</a:t>
              </a:r>
              <a:endParaRPr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endParaRPr>
            </a:p>
          </p:txBody>
        </p:sp>
        <p:sp>
          <p:nvSpPr>
            <p:cNvPr id="210" name="Google Shape;210;p25"/>
            <p:cNvSpPr txBox="1"/>
            <p:nvPr/>
          </p:nvSpPr>
          <p:spPr>
            <a:xfrm>
              <a:off x="5865887" y="6169702"/>
              <a:ext cx="3246120" cy="443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4850" tIns="36575" rIns="36575" bIns="365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Calibri"/>
                  <a:cs typeface="Calibri"/>
                  <a:sym typeface="Calibri"/>
                </a:rPr>
                <a:t>Arrive, plug in, track usage 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Calibri"/>
                  <a:cs typeface="Calibri"/>
                  <a:sym typeface="Calibri"/>
                </a:rPr>
                <a:t>&amp; receive digital receipt</a:t>
              </a:r>
              <a:endParaRPr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endParaRPr>
            </a:p>
          </p:txBody>
        </p:sp>
      </p:grpSp>
      <p:sp>
        <p:nvSpPr>
          <p:cNvPr id="211" name="Google Shape;211;p25"/>
          <p:cNvSpPr/>
          <p:nvPr/>
        </p:nvSpPr>
        <p:spPr>
          <a:xfrm>
            <a:off x="0" y="64000"/>
            <a:ext cx="12191700" cy="896100"/>
          </a:xfrm>
          <a:prstGeom prst="rect">
            <a:avLst/>
          </a:prstGeom>
          <a:solidFill>
            <a:srgbClr val="F1F8E9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5"/>
          <p:cNvSpPr txBox="1"/>
          <p:nvPr/>
        </p:nvSpPr>
        <p:spPr>
          <a:xfrm>
            <a:off x="167225" y="173850"/>
            <a:ext cx="7012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SOLUTION OVERVIEW</a:t>
            </a:r>
            <a:endParaRPr/>
          </a:p>
        </p:txBody>
      </p:sp>
      <p:pic>
        <p:nvPicPr>
          <p:cNvPr id="215" name="Google Shape;215;p25" descr="img_slide2_mockup_ligh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84475" y="1792225"/>
            <a:ext cx="3858775" cy="438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68E10AE2-7B36-B3FE-FC2A-3D03A1932B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51333" y="284023"/>
            <a:ext cx="3114121" cy="4629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950CC-5F7A-1D58-3422-17500E620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6CB8B3C-475F-9B9E-CBBE-AC90E48FC546}"/>
              </a:ext>
            </a:extLst>
          </p:cNvPr>
          <p:cNvSpPr/>
          <p:nvPr/>
        </p:nvSpPr>
        <p:spPr>
          <a:xfrm>
            <a:off x="0" y="82836"/>
            <a:ext cx="12191695" cy="100584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C63F3F30-5E17-DAC9-A385-2E42612C34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51333" y="284023"/>
            <a:ext cx="3262715" cy="46291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E96CAA01-03BE-3F60-5236-37333953D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822" y="1027103"/>
            <a:ext cx="12188825" cy="1331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86F309-E244-55F8-51A7-6AC750FEE2C4}"/>
              </a:ext>
            </a:extLst>
          </p:cNvPr>
          <p:cNvSpPr txBox="1"/>
          <p:nvPr/>
        </p:nvSpPr>
        <p:spPr>
          <a:xfrm>
            <a:off x="286289" y="258517"/>
            <a:ext cx="6145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2121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</a:t>
            </a: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3200" b="1" dirty="0">
                <a:solidFill>
                  <a:srgbClr val="2121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APPROACH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DEC4A0-B4CD-E664-3CD4-7F968993A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63" y="1288529"/>
            <a:ext cx="4474852" cy="53893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D8E49A-94D0-DE0A-568A-12CC85E063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9262" y="1344059"/>
            <a:ext cx="7408861" cy="539951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1C11113-9A49-C487-5B09-8687EE19248F}"/>
              </a:ext>
            </a:extLst>
          </p:cNvPr>
          <p:cNvSpPr/>
          <p:nvPr/>
        </p:nvSpPr>
        <p:spPr>
          <a:xfrm>
            <a:off x="491613" y="1440418"/>
            <a:ext cx="4001729" cy="5039039"/>
          </a:xfrm>
          <a:prstGeom prst="rect">
            <a:avLst/>
          </a:prstGeom>
          <a:solidFill>
            <a:srgbClr val="E9F8E4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just"/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B2861E-3268-62FA-DD7D-4406182540F5}"/>
              </a:ext>
            </a:extLst>
          </p:cNvPr>
          <p:cNvSpPr txBox="1"/>
          <p:nvPr/>
        </p:nvSpPr>
        <p:spPr>
          <a:xfrm>
            <a:off x="694856" y="1458338"/>
            <a:ext cx="3798485" cy="4262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 Stack</a:t>
            </a:r>
          </a:p>
          <a:p>
            <a:endParaRPr lang="en-IN" sz="2400" b="1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2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Web Frontend</a:t>
            </a:r>
            <a:r>
              <a:rPr lang="en-IN" sz="24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TypeScript,    PWA, Tailwind CSS, React</a:t>
            </a:r>
          </a:p>
          <a:p>
            <a:endParaRPr lang="en-IN" sz="19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IN" sz="22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Mobile</a:t>
            </a: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</a:t>
            </a: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Frontend</a:t>
            </a: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Flutter</a:t>
            </a:r>
          </a:p>
          <a:p>
            <a:endParaRPr lang="en-IN" sz="2400" b="1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2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</a:t>
            </a:r>
            <a:r>
              <a:rPr lang="en-IN" sz="24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1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SpringBoot</a:t>
            </a:r>
            <a:r>
              <a:rPr lang="en-I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Node</a:t>
            </a:r>
            <a:r>
              <a:rPr lang="en-I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.js</a:t>
            </a:r>
            <a:r>
              <a:rPr lang="en-I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WebSocket</a:t>
            </a:r>
          </a:p>
          <a:p>
            <a:endParaRPr lang="en-IN" sz="2400" b="1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2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</a:t>
            </a:r>
            <a:r>
              <a:rPr lang="en-IN" sz="24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MongoDB</a:t>
            </a:r>
            <a:r>
              <a:rPr lang="en-I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PostgreSQL</a:t>
            </a:r>
            <a:r>
              <a:rPr lang="en-I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Redis</a:t>
            </a:r>
          </a:p>
        </p:txBody>
      </p:sp>
    </p:spTree>
    <p:extLst>
      <p:ext uri="{BB962C8B-B14F-4D97-AF65-F5344CB8AC3E}">
        <p14:creationId xmlns:p14="http://schemas.microsoft.com/office/powerpoint/2010/main" val="1441301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/>
          <p:nvPr/>
        </p:nvSpPr>
        <p:spPr>
          <a:xfrm>
            <a:off x="0" y="960120"/>
            <a:ext cx="12189000" cy="50400"/>
          </a:xfrm>
          <a:prstGeom prst="rect">
            <a:avLst/>
          </a:prstGeom>
          <a:solidFill>
            <a:srgbClr val="2EA855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6"/>
          <p:cNvSpPr txBox="1"/>
          <p:nvPr/>
        </p:nvSpPr>
        <p:spPr>
          <a:xfrm>
            <a:off x="384048" y="146304"/>
            <a:ext cx="82296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FEASIBILITY &amp; VIABILITY</a:t>
            </a:r>
            <a:endParaRPr/>
          </a:p>
        </p:txBody>
      </p:sp>
      <p:sp>
        <p:nvSpPr>
          <p:cNvPr id="222" name="Google Shape;222;p26"/>
          <p:cNvSpPr/>
          <p:nvPr/>
        </p:nvSpPr>
        <p:spPr>
          <a:xfrm>
            <a:off x="0" y="1010412"/>
            <a:ext cx="12189000" cy="329100"/>
          </a:xfrm>
          <a:prstGeom prst="rect">
            <a:avLst/>
          </a:prstGeom>
          <a:solidFill>
            <a:srgbClr val="F0FAF3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6"/>
          <p:cNvSpPr txBox="1"/>
          <p:nvPr/>
        </p:nvSpPr>
        <p:spPr>
          <a:xfrm>
            <a:off x="384048" y="1019556"/>
            <a:ext cx="9144000" cy="28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lvl="0"/>
            <a:r>
              <a:rPr lang="en-US" dirty="0"/>
              <a:t>.</a:t>
            </a:r>
            <a:endParaRPr dirty="0"/>
          </a:p>
        </p:txBody>
      </p:sp>
      <p:sp>
        <p:nvSpPr>
          <p:cNvPr id="224" name="Google Shape;224;p26"/>
          <p:cNvSpPr/>
          <p:nvPr/>
        </p:nvSpPr>
        <p:spPr>
          <a:xfrm>
            <a:off x="292608" y="1417320"/>
            <a:ext cx="2651700" cy="2487300"/>
          </a:xfrm>
          <a:prstGeom prst="rect">
            <a:avLst/>
          </a:prstGeom>
          <a:solidFill>
            <a:srgbClr val="F0FAF3"/>
          </a:solidFill>
          <a:ln w="11425" cap="flat" cmpd="sng">
            <a:solidFill>
              <a:srgbClr val="2EA85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6"/>
          <p:cNvSpPr/>
          <p:nvPr/>
        </p:nvSpPr>
        <p:spPr>
          <a:xfrm>
            <a:off x="292608" y="1417320"/>
            <a:ext cx="2651700" cy="50400"/>
          </a:xfrm>
          <a:prstGeom prst="rect">
            <a:avLst/>
          </a:prstGeom>
          <a:solidFill>
            <a:srgbClr val="1A6B35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6"/>
          <p:cNvSpPr/>
          <p:nvPr/>
        </p:nvSpPr>
        <p:spPr>
          <a:xfrm>
            <a:off x="292608" y="1467612"/>
            <a:ext cx="2651700" cy="384000"/>
          </a:xfrm>
          <a:prstGeom prst="rect">
            <a:avLst/>
          </a:prstGeom>
          <a:solidFill>
            <a:srgbClr val="F0FAF3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6"/>
          <p:cNvSpPr/>
          <p:nvPr/>
        </p:nvSpPr>
        <p:spPr>
          <a:xfrm>
            <a:off x="292608" y="1417320"/>
            <a:ext cx="50400" cy="2487300"/>
          </a:xfrm>
          <a:prstGeom prst="rect">
            <a:avLst/>
          </a:prstGeom>
          <a:solidFill>
            <a:srgbClr val="1A6B35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6"/>
          <p:cNvSpPr txBox="1"/>
          <p:nvPr/>
        </p:nvSpPr>
        <p:spPr>
          <a:xfrm>
            <a:off x="438912" y="1508760"/>
            <a:ext cx="2450700" cy="28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1A6B35"/>
                </a:solidFill>
                <a:latin typeface="Calibri"/>
                <a:ea typeface="Calibri"/>
                <a:cs typeface="Calibri"/>
                <a:sym typeface="Calibri"/>
              </a:rPr>
              <a:t>Technically Feasible</a:t>
            </a:r>
            <a:endParaRPr dirty="0"/>
          </a:p>
        </p:txBody>
      </p:sp>
      <p:sp>
        <p:nvSpPr>
          <p:cNvPr id="229" name="Google Shape;229;p26"/>
          <p:cNvSpPr/>
          <p:nvPr/>
        </p:nvSpPr>
        <p:spPr>
          <a:xfrm>
            <a:off x="402336" y="1883664"/>
            <a:ext cx="2487300" cy="12000"/>
          </a:xfrm>
          <a:prstGeom prst="rect">
            <a:avLst/>
          </a:prstGeom>
          <a:solidFill>
            <a:srgbClr val="2EA855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6"/>
          <p:cNvSpPr txBox="1"/>
          <p:nvPr/>
        </p:nvSpPr>
        <p:spPr>
          <a:xfrm>
            <a:off x="429768" y="1791048"/>
            <a:ext cx="2432400" cy="2225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0" rIns="36575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rgbClr val="2EA85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Calibri"/>
                <a:cs typeface="Calibri"/>
                <a:sym typeface="Calibri"/>
              </a:rPr>
              <a:t>Free APIs available to test and build without any cost to start</a:t>
            </a:r>
            <a:endParaRPr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Calibri"/>
                <a:cs typeface="Calibri"/>
                <a:sym typeface="Calibri"/>
              </a:rPr>
              <a:t>• Uses open-source maps so no expensive licensing fees needed</a:t>
            </a:r>
            <a:endParaRPr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Calibri"/>
                <a:cs typeface="Calibri"/>
                <a:sym typeface="Calibri"/>
              </a:rPr>
              <a:t>• Built on reliable, widely-used technology — no special hardware required</a:t>
            </a:r>
            <a:endParaRPr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800" dirty="0">
              <a:solidFill>
                <a:srgbClr val="2EA8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6"/>
          <p:cNvSpPr/>
          <p:nvPr/>
        </p:nvSpPr>
        <p:spPr>
          <a:xfrm>
            <a:off x="3054096" y="1417320"/>
            <a:ext cx="2651700" cy="2487300"/>
          </a:xfrm>
          <a:prstGeom prst="rect">
            <a:avLst/>
          </a:prstGeom>
          <a:solidFill>
            <a:srgbClr val="E8F2FF"/>
          </a:solidFill>
          <a:ln w="11425" cap="flat" cmpd="sng">
            <a:solidFill>
              <a:srgbClr val="1A6AC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6"/>
          <p:cNvSpPr/>
          <p:nvPr/>
        </p:nvSpPr>
        <p:spPr>
          <a:xfrm>
            <a:off x="3054096" y="1417320"/>
            <a:ext cx="2651700" cy="50400"/>
          </a:xfrm>
          <a:prstGeom prst="rect">
            <a:avLst/>
          </a:prstGeom>
          <a:solidFill>
            <a:srgbClr val="0D3B6E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6"/>
          <p:cNvSpPr/>
          <p:nvPr/>
        </p:nvSpPr>
        <p:spPr>
          <a:xfrm>
            <a:off x="3054096" y="1467612"/>
            <a:ext cx="2651700" cy="384000"/>
          </a:xfrm>
          <a:prstGeom prst="rect">
            <a:avLst/>
          </a:prstGeom>
          <a:solidFill>
            <a:srgbClr val="E8F2FF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6"/>
          <p:cNvSpPr/>
          <p:nvPr/>
        </p:nvSpPr>
        <p:spPr>
          <a:xfrm>
            <a:off x="3054096" y="1417320"/>
            <a:ext cx="50400" cy="2487300"/>
          </a:xfrm>
          <a:prstGeom prst="rect">
            <a:avLst/>
          </a:prstGeom>
          <a:solidFill>
            <a:srgbClr val="0D3B6E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6"/>
          <p:cNvSpPr txBox="1"/>
          <p:nvPr/>
        </p:nvSpPr>
        <p:spPr>
          <a:xfrm>
            <a:off x="3200400" y="1508760"/>
            <a:ext cx="2450700" cy="28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0D3B6E"/>
                </a:solidFill>
                <a:latin typeface="Calibri"/>
                <a:ea typeface="Calibri"/>
                <a:cs typeface="Calibri"/>
                <a:sym typeface="Calibri"/>
              </a:rPr>
              <a:t>Scalable Infrastructure</a:t>
            </a:r>
            <a:endParaRPr dirty="0"/>
          </a:p>
        </p:txBody>
      </p:sp>
      <p:sp>
        <p:nvSpPr>
          <p:cNvPr id="236" name="Google Shape;236;p26"/>
          <p:cNvSpPr/>
          <p:nvPr/>
        </p:nvSpPr>
        <p:spPr>
          <a:xfrm>
            <a:off x="3163824" y="1883664"/>
            <a:ext cx="2487300" cy="12000"/>
          </a:xfrm>
          <a:prstGeom prst="rect">
            <a:avLst/>
          </a:prstGeom>
          <a:solidFill>
            <a:srgbClr val="1A6AC8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6"/>
          <p:cNvSpPr txBox="1"/>
          <p:nvPr/>
        </p:nvSpPr>
        <p:spPr>
          <a:xfrm>
            <a:off x="3191256" y="1476410"/>
            <a:ext cx="2432400" cy="2777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0" rIns="36575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 dirty="0">
              <a:solidFill>
                <a:srgbClr val="1A6AC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rgbClr val="1A6AC8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Calibri"/>
                <a:cs typeface="Calibri"/>
                <a:sym typeface="Calibri"/>
              </a:rPr>
              <a:t>Charging slot availability updates instantly with zero lag or delay</a:t>
            </a:r>
            <a:endParaRPr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Calibri"/>
                <a:cs typeface="Calibri"/>
                <a:sym typeface="Calibri"/>
              </a:rPr>
              <a:t>• Finds the nearest chargers to you with fast and accurate location search</a:t>
            </a:r>
            <a:endParaRPr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Calibri"/>
                <a:cs typeface="Calibri"/>
                <a:sym typeface="Calibri"/>
              </a:rPr>
              <a:t>• Easily expands to new cities without any major technical changes needed</a:t>
            </a:r>
            <a:endParaRPr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800" dirty="0">
              <a:solidFill>
                <a:srgbClr val="1A6AC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6"/>
          <p:cNvSpPr/>
          <p:nvPr/>
        </p:nvSpPr>
        <p:spPr>
          <a:xfrm>
            <a:off x="5815584" y="1417320"/>
            <a:ext cx="2651700" cy="2487300"/>
          </a:xfrm>
          <a:prstGeom prst="rect">
            <a:avLst/>
          </a:prstGeom>
          <a:solidFill>
            <a:srgbClr val="FFF3E0"/>
          </a:solidFill>
          <a:ln w="11425" cap="flat" cmpd="sng">
            <a:solidFill>
              <a:srgbClr val="E67E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6"/>
          <p:cNvSpPr/>
          <p:nvPr/>
        </p:nvSpPr>
        <p:spPr>
          <a:xfrm>
            <a:off x="5815584" y="1417320"/>
            <a:ext cx="2651700" cy="50400"/>
          </a:xfrm>
          <a:prstGeom prst="rect">
            <a:avLst/>
          </a:prstGeom>
          <a:solidFill>
            <a:srgbClr val="B54A00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6"/>
          <p:cNvSpPr/>
          <p:nvPr/>
        </p:nvSpPr>
        <p:spPr>
          <a:xfrm>
            <a:off x="5815584" y="1467612"/>
            <a:ext cx="2651700" cy="384000"/>
          </a:xfrm>
          <a:prstGeom prst="rect">
            <a:avLst/>
          </a:prstGeom>
          <a:solidFill>
            <a:srgbClr val="FFF3E0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6"/>
          <p:cNvSpPr/>
          <p:nvPr/>
        </p:nvSpPr>
        <p:spPr>
          <a:xfrm>
            <a:off x="5815584" y="1417320"/>
            <a:ext cx="50400" cy="2487300"/>
          </a:xfrm>
          <a:prstGeom prst="rect">
            <a:avLst/>
          </a:prstGeom>
          <a:solidFill>
            <a:srgbClr val="B54A00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6"/>
          <p:cNvSpPr txBox="1"/>
          <p:nvPr/>
        </p:nvSpPr>
        <p:spPr>
          <a:xfrm>
            <a:off x="5961888" y="1508760"/>
            <a:ext cx="2450700" cy="28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B54A00"/>
                </a:solidFill>
                <a:latin typeface="Calibri"/>
                <a:ea typeface="Calibri"/>
                <a:cs typeface="Calibri"/>
                <a:sym typeface="Calibri"/>
              </a:rPr>
              <a:t>Low Cost Setup</a:t>
            </a:r>
            <a:endParaRPr dirty="0"/>
          </a:p>
        </p:txBody>
      </p:sp>
      <p:sp>
        <p:nvSpPr>
          <p:cNvPr id="243" name="Google Shape;243;p26"/>
          <p:cNvSpPr/>
          <p:nvPr/>
        </p:nvSpPr>
        <p:spPr>
          <a:xfrm>
            <a:off x="5925312" y="1883664"/>
            <a:ext cx="2487300" cy="12000"/>
          </a:xfrm>
          <a:prstGeom prst="rect">
            <a:avLst/>
          </a:prstGeom>
          <a:solidFill>
            <a:srgbClr val="E67E00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6"/>
          <p:cNvSpPr txBox="1"/>
          <p:nvPr/>
        </p:nvSpPr>
        <p:spPr>
          <a:xfrm>
            <a:off x="6005319" y="1710016"/>
            <a:ext cx="2432400" cy="24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0" rIns="36575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 dirty="0">
                <a:solidFill>
                  <a:srgbClr val="E67E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Calibri"/>
                <a:cs typeface="Calibri"/>
                <a:sym typeface="Calibri"/>
              </a:rPr>
              <a:t>Entire platform built on free, open-source tools — no software license costs</a:t>
            </a:r>
            <a:endParaRPr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Calibri"/>
                <a:cs typeface="Calibri"/>
                <a:sym typeface="Calibri"/>
              </a:rPr>
              <a:t>• Payment system is free to use until you earn your first ₹1 lakh in revenue</a:t>
            </a:r>
            <a:endParaRPr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Calibri"/>
                <a:cs typeface="Calibri"/>
                <a:sym typeface="Calibri"/>
              </a:rPr>
              <a:t>• Full working app can be built for under ₹2 lakh using open-source </a:t>
            </a:r>
            <a:endParaRPr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800" dirty="0">
              <a:solidFill>
                <a:srgbClr val="E67E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6"/>
          <p:cNvSpPr/>
          <p:nvPr/>
        </p:nvSpPr>
        <p:spPr>
          <a:xfrm>
            <a:off x="0" y="3995928"/>
            <a:ext cx="12189000" cy="347400"/>
          </a:xfrm>
          <a:prstGeom prst="rect">
            <a:avLst/>
          </a:prstGeom>
          <a:solidFill>
            <a:srgbClr val="D6F0DE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6"/>
          <p:cNvSpPr/>
          <p:nvPr/>
        </p:nvSpPr>
        <p:spPr>
          <a:xfrm>
            <a:off x="0" y="3995928"/>
            <a:ext cx="255900" cy="347400"/>
          </a:xfrm>
          <a:prstGeom prst="rect">
            <a:avLst/>
          </a:prstGeom>
          <a:solidFill>
            <a:srgbClr val="1A6B35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6"/>
          <p:cNvSpPr txBox="1"/>
          <p:nvPr/>
        </p:nvSpPr>
        <p:spPr>
          <a:xfrm>
            <a:off x="365760" y="4041648"/>
            <a:ext cx="5029200" cy="28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1A6B35"/>
                </a:solidFill>
                <a:latin typeface="Calibri"/>
                <a:ea typeface="Calibri"/>
                <a:cs typeface="Calibri"/>
                <a:sym typeface="Calibri"/>
              </a:rPr>
              <a:t>CHALLENGES &amp; MITIGATIONS</a:t>
            </a:r>
            <a:endParaRPr dirty="0"/>
          </a:p>
        </p:txBody>
      </p:sp>
      <p:sp>
        <p:nvSpPr>
          <p:cNvPr id="248" name="Google Shape;248;p26"/>
          <p:cNvSpPr/>
          <p:nvPr/>
        </p:nvSpPr>
        <p:spPr>
          <a:xfrm>
            <a:off x="4440785" y="4032511"/>
            <a:ext cx="3310200" cy="255900"/>
          </a:xfrm>
          <a:prstGeom prst="rect">
            <a:avLst/>
          </a:prstGeom>
          <a:solidFill>
            <a:srgbClr val="D6F0DE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6"/>
          <p:cNvSpPr txBox="1"/>
          <p:nvPr/>
        </p:nvSpPr>
        <p:spPr>
          <a:xfrm>
            <a:off x="4457685" y="4054329"/>
            <a:ext cx="3273600" cy="2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2EA855"/>
                </a:solidFill>
                <a:latin typeface="Calibri"/>
                <a:ea typeface="Calibri"/>
                <a:cs typeface="Calibri"/>
                <a:sym typeface="Calibri"/>
              </a:rPr>
              <a:t>Risk-Identified  &gt;&gt;  Solution-Mapped  &gt;&gt;  Deployment-Ready</a:t>
            </a:r>
            <a:endParaRPr/>
          </a:p>
        </p:txBody>
      </p:sp>
      <p:sp>
        <p:nvSpPr>
          <p:cNvPr id="250" name="Google Shape;250;p26"/>
          <p:cNvSpPr/>
          <p:nvPr/>
        </p:nvSpPr>
        <p:spPr>
          <a:xfrm>
            <a:off x="292608" y="4416552"/>
            <a:ext cx="3712500" cy="722400"/>
          </a:xfrm>
          <a:prstGeom prst="rect">
            <a:avLst/>
          </a:prstGeom>
          <a:solidFill>
            <a:srgbClr val="FFEBEB"/>
          </a:solidFill>
          <a:ln w="9525" cap="flat" cmpd="sng">
            <a:solidFill>
              <a:srgbClr val="B020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6"/>
          <p:cNvSpPr/>
          <p:nvPr/>
        </p:nvSpPr>
        <p:spPr>
          <a:xfrm>
            <a:off x="292608" y="4416552"/>
            <a:ext cx="50400" cy="722400"/>
          </a:xfrm>
          <a:prstGeom prst="rect">
            <a:avLst/>
          </a:prstGeom>
          <a:solidFill>
            <a:srgbClr val="B02020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6"/>
          <p:cNvSpPr/>
          <p:nvPr/>
        </p:nvSpPr>
        <p:spPr>
          <a:xfrm>
            <a:off x="420624" y="4677155"/>
            <a:ext cx="201300" cy="201300"/>
          </a:xfrm>
          <a:prstGeom prst="rect">
            <a:avLst/>
          </a:prstGeom>
          <a:solidFill>
            <a:srgbClr val="B02020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6"/>
          <p:cNvSpPr txBox="1"/>
          <p:nvPr/>
        </p:nvSpPr>
        <p:spPr>
          <a:xfrm>
            <a:off x="420624" y="4640579"/>
            <a:ext cx="2013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/>
          </a:p>
        </p:txBody>
      </p:sp>
      <p:sp>
        <p:nvSpPr>
          <p:cNvPr id="254" name="Google Shape;254;p26"/>
          <p:cNvSpPr txBox="1"/>
          <p:nvPr/>
        </p:nvSpPr>
        <p:spPr>
          <a:xfrm>
            <a:off x="694944" y="4380176"/>
            <a:ext cx="3200400" cy="118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Calibri"/>
                <a:cs typeface="Calibri"/>
                <a:sym typeface="Calibri"/>
              </a:rPr>
              <a:t>• Charging station data is scattered across many different operators with no single unified source</a:t>
            </a:r>
            <a:endParaRPr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050" dirty="0">
              <a:solidFill>
                <a:srgbClr val="B020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6"/>
          <p:cNvSpPr txBox="1"/>
          <p:nvPr/>
        </p:nvSpPr>
        <p:spPr>
          <a:xfrm>
            <a:off x="4096512" y="4613148"/>
            <a:ext cx="347400" cy="2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A6B35"/>
                </a:solidFill>
                <a:latin typeface="Calibri"/>
                <a:ea typeface="Calibri"/>
                <a:cs typeface="Calibri"/>
                <a:sym typeface="Calibri"/>
              </a:rPr>
              <a:t>&gt;&gt;</a:t>
            </a:r>
            <a:endParaRPr/>
          </a:p>
        </p:txBody>
      </p:sp>
      <p:sp>
        <p:nvSpPr>
          <p:cNvPr id="256" name="Google Shape;256;p26"/>
          <p:cNvSpPr/>
          <p:nvPr/>
        </p:nvSpPr>
        <p:spPr>
          <a:xfrm>
            <a:off x="4535424" y="4416552"/>
            <a:ext cx="4370700" cy="722400"/>
          </a:xfrm>
          <a:prstGeom prst="rect">
            <a:avLst/>
          </a:prstGeom>
          <a:solidFill>
            <a:srgbClr val="F0FAF3"/>
          </a:solidFill>
          <a:ln w="9525" cap="flat" cmpd="sng">
            <a:solidFill>
              <a:srgbClr val="2EA85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6"/>
          <p:cNvSpPr/>
          <p:nvPr/>
        </p:nvSpPr>
        <p:spPr>
          <a:xfrm>
            <a:off x="4535424" y="4416552"/>
            <a:ext cx="50400" cy="722400"/>
          </a:xfrm>
          <a:prstGeom prst="rect">
            <a:avLst/>
          </a:prstGeom>
          <a:solidFill>
            <a:srgbClr val="1A6B35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6"/>
          <p:cNvSpPr/>
          <p:nvPr/>
        </p:nvSpPr>
        <p:spPr>
          <a:xfrm>
            <a:off x="4663440" y="4677155"/>
            <a:ext cx="201300" cy="201300"/>
          </a:xfrm>
          <a:prstGeom prst="rect">
            <a:avLst/>
          </a:prstGeom>
          <a:solidFill>
            <a:srgbClr val="1A6B35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6"/>
          <p:cNvSpPr txBox="1"/>
          <p:nvPr/>
        </p:nvSpPr>
        <p:spPr>
          <a:xfrm>
            <a:off x="4663440" y="4640579"/>
            <a:ext cx="201300" cy="2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260" name="Google Shape;260;p26"/>
          <p:cNvSpPr txBox="1"/>
          <p:nvPr/>
        </p:nvSpPr>
        <p:spPr>
          <a:xfrm>
            <a:off x="4937760" y="4350680"/>
            <a:ext cx="3840600" cy="118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• One single connection that works with all charging networks — no separate setup needed for each operator</a:t>
            </a:r>
            <a:endParaRPr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050" dirty="0">
              <a:solidFill>
                <a:srgbClr val="1A6B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6"/>
          <p:cNvSpPr/>
          <p:nvPr/>
        </p:nvSpPr>
        <p:spPr>
          <a:xfrm>
            <a:off x="292608" y="5193792"/>
            <a:ext cx="3712500" cy="722400"/>
          </a:xfrm>
          <a:prstGeom prst="rect">
            <a:avLst/>
          </a:prstGeom>
          <a:solidFill>
            <a:srgbClr val="FFEBEB"/>
          </a:solidFill>
          <a:ln w="9525" cap="flat" cmpd="sng">
            <a:solidFill>
              <a:srgbClr val="B020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6"/>
          <p:cNvSpPr/>
          <p:nvPr/>
        </p:nvSpPr>
        <p:spPr>
          <a:xfrm>
            <a:off x="292608" y="5193792"/>
            <a:ext cx="50400" cy="722400"/>
          </a:xfrm>
          <a:prstGeom prst="rect">
            <a:avLst/>
          </a:prstGeom>
          <a:solidFill>
            <a:srgbClr val="B02020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6"/>
          <p:cNvSpPr/>
          <p:nvPr/>
        </p:nvSpPr>
        <p:spPr>
          <a:xfrm>
            <a:off x="420624" y="5454395"/>
            <a:ext cx="201300" cy="201300"/>
          </a:xfrm>
          <a:prstGeom prst="rect">
            <a:avLst/>
          </a:prstGeom>
          <a:solidFill>
            <a:srgbClr val="B02020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6"/>
          <p:cNvSpPr txBox="1"/>
          <p:nvPr/>
        </p:nvSpPr>
        <p:spPr>
          <a:xfrm>
            <a:off x="420624" y="5417819"/>
            <a:ext cx="2013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/>
          </a:p>
        </p:txBody>
      </p:sp>
      <p:sp>
        <p:nvSpPr>
          <p:cNvPr id="265" name="Google Shape;265;p26"/>
          <p:cNvSpPr txBox="1"/>
          <p:nvPr/>
        </p:nvSpPr>
        <p:spPr>
          <a:xfrm>
            <a:off x="694944" y="5206575"/>
            <a:ext cx="3200400" cy="96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• Unstable electricity supply and weak internet in rural areas makes reliable charging difficult</a:t>
            </a:r>
            <a:endParaRPr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050" dirty="0">
              <a:solidFill>
                <a:srgbClr val="B020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6"/>
          <p:cNvSpPr txBox="1"/>
          <p:nvPr/>
        </p:nvSpPr>
        <p:spPr>
          <a:xfrm>
            <a:off x="4096512" y="5390388"/>
            <a:ext cx="347400" cy="2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A6B35"/>
                </a:solidFill>
                <a:latin typeface="Calibri"/>
                <a:ea typeface="Calibri"/>
                <a:cs typeface="Calibri"/>
                <a:sym typeface="Calibri"/>
              </a:rPr>
              <a:t>&gt;&gt;</a:t>
            </a:r>
            <a:endParaRPr/>
          </a:p>
        </p:txBody>
      </p:sp>
      <p:sp>
        <p:nvSpPr>
          <p:cNvPr id="267" name="Google Shape;267;p26"/>
          <p:cNvSpPr/>
          <p:nvPr/>
        </p:nvSpPr>
        <p:spPr>
          <a:xfrm>
            <a:off x="4535424" y="5193792"/>
            <a:ext cx="4370700" cy="722400"/>
          </a:xfrm>
          <a:prstGeom prst="rect">
            <a:avLst/>
          </a:prstGeom>
          <a:solidFill>
            <a:srgbClr val="F0FAF3"/>
          </a:solidFill>
          <a:ln w="9525" cap="flat" cmpd="sng">
            <a:solidFill>
              <a:srgbClr val="2EA85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6"/>
          <p:cNvSpPr/>
          <p:nvPr/>
        </p:nvSpPr>
        <p:spPr>
          <a:xfrm>
            <a:off x="4535424" y="5193792"/>
            <a:ext cx="50400" cy="722400"/>
          </a:xfrm>
          <a:prstGeom prst="rect">
            <a:avLst/>
          </a:prstGeom>
          <a:solidFill>
            <a:srgbClr val="1A6B35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6"/>
          <p:cNvSpPr/>
          <p:nvPr/>
        </p:nvSpPr>
        <p:spPr>
          <a:xfrm>
            <a:off x="4663440" y="5454395"/>
            <a:ext cx="201300" cy="201300"/>
          </a:xfrm>
          <a:prstGeom prst="rect">
            <a:avLst/>
          </a:prstGeom>
          <a:solidFill>
            <a:srgbClr val="1A6B35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6"/>
          <p:cNvSpPr txBox="1"/>
          <p:nvPr/>
        </p:nvSpPr>
        <p:spPr>
          <a:xfrm>
            <a:off x="4663440" y="5417819"/>
            <a:ext cx="201300" cy="2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271" name="Google Shape;271;p26"/>
          <p:cNvSpPr txBox="1"/>
          <p:nvPr/>
        </p:nvSpPr>
        <p:spPr>
          <a:xfrm>
            <a:off x="4937760" y="5216407"/>
            <a:ext cx="3840600" cy="652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Calibri"/>
                <a:cs typeface="Calibri"/>
                <a:sym typeface="Calibri"/>
              </a:rPr>
              <a:t>• 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Calibri"/>
                <a:cs typeface="Calibri"/>
              </a:rPr>
              <a:t>Integrate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Calibri"/>
                <a:cs typeface="Calibri"/>
              </a:rPr>
              <a:t>reliable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Calibri"/>
                <a:cs typeface="Calibri"/>
              </a:rPr>
              <a:t>Maps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API with 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Calibri"/>
                <a:cs typeface="Calibri"/>
              </a:rPr>
              <a:t>continuous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data 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Calibri"/>
                <a:cs typeface="Calibri"/>
              </a:rPr>
              <a:t>validation</a:t>
            </a:r>
            <a:endParaRPr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6"/>
          <p:cNvSpPr/>
          <p:nvPr/>
        </p:nvSpPr>
        <p:spPr>
          <a:xfrm>
            <a:off x="292608" y="5971032"/>
            <a:ext cx="3712500" cy="722400"/>
          </a:xfrm>
          <a:prstGeom prst="rect">
            <a:avLst/>
          </a:prstGeom>
          <a:solidFill>
            <a:srgbClr val="FFEBEB"/>
          </a:solidFill>
          <a:ln w="9525" cap="flat" cmpd="sng">
            <a:solidFill>
              <a:srgbClr val="B020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6"/>
          <p:cNvSpPr/>
          <p:nvPr/>
        </p:nvSpPr>
        <p:spPr>
          <a:xfrm>
            <a:off x="292608" y="5971032"/>
            <a:ext cx="50400" cy="722400"/>
          </a:xfrm>
          <a:prstGeom prst="rect">
            <a:avLst/>
          </a:prstGeom>
          <a:solidFill>
            <a:srgbClr val="B02020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6"/>
          <p:cNvSpPr/>
          <p:nvPr/>
        </p:nvSpPr>
        <p:spPr>
          <a:xfrm>
            <a:off x="420624" y="6231636"/>
            <a:ext cx="201300" cy="201300"/>
          </a:xfrm>
          <a:prstGeom prst="rect">
            <a:avLst/>
          </a:prstGeom>
          <a:solidFill>
            <a:srgbClr val="B02020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6"/>
          <p:cNvSpPr txBox="1"/>
          <p:nvPr/>
        </p:nvSpPr>
        <p:spPr>
          <a:xfrm>
            <a:off x="420624" y="6195060"/>
            <a:ext cx="2013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/>
          </a:p>
        </p:txBody>
      </p:sp>
      <p:sp>
        <p:nvSpPr>
          <p:cNvPr id="276" name="Google Shape;276;p26"/>
          <p:cNvSpPr txBox="1"/>
          <p:nvPr/>
        </p:nvSpPr>
        <p:spPr>
          <a:xfrm>
            <a:off x="694944" y="5983816"/>
            <a:ext cx="3200400" cy="96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Calibri"/>
                <a:cs typeface="Calibri"/>
                <a:sym typeface="Calibri"/>
              </a:rPr>
              <a:t>• Users may not trust or rely on the app if live charging slot data is often wrong or outdated</a:t>
            </a:r>
            <a:endParaRPr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050" dirty="0">
              <a:solidFill>
                <a:srgbClr val="B020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6"/>
          <p:cNvSpPr txBox="1"/>
          <p:nvPr/>
        </p:nvSpPr>
        <p:spPr>
          <a:xfrm>
            <a:off x="4096512" y="6167628"/>
            <a:ext cx="347400" cy="2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A6B35"/>
                </a:solidFill>
                <a:latin typeface="Calibri"/>
                <a:ea typeface="Calibri"/>
                <a:cs typeface="Calibri"/>
                <a:sym typeface="Calibri"/>
              </a:rPr>
              <a:t>&gt;&gt;</a:t>
            </a:r>
            <a:endParaRPr/>
          </a:p>
        </p:txBody>
      </p:sp>
      <p:sp>
        <p:nvSpPr>
          <p:cNvPr id="278" name="Google Shape;278;p26"/>
          <p:cNvSpPr/>
          <p:nvPr/>
        </p:nvSpPr>
        <p:spPr>
          <a:xfrm>
            <a:off x="4535424" y="5971032"/>
            <a:ext cx="4370700" cy="722400"/>
          </a:xfrm>
          <a:prstGeom prst="rect">
            <a:avLst/>
          </a:prstGeom>
          <a:solidFill>
            <a:srgbClr val="F0FAF3"/>
          </a:solidFill>
          <a:ln w="9525" cap="flat" cmpd="sng">
            <a:solidFill>
              <a:srgbClr val="2EA85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6"/>
          <p:cNvSpPr/>
          <p:nvPr/>
        </p:nvSpPr>
        <p:spPr>
          <a:xfrm>
            <a:off x="4535424" y="5971032"/>
            <a:ext cx="50400" cy="722400"/>
          </a:xfrm>
          <a:prstGeom prst="rect">
            <a:avLst/>
          </a:prstGeom>
          <a:solidFill>
            <a:srgbClr val="1A6B35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4663440" y="6231636"/>
            <a:ext cx="201300" cy="201300"/>
          </a:xfrm>
          <a:prstGeom prst="rect">
            <a:avLst/>
          </a:prstGeom>
          <a:solidFill>
            <a:srgbClr val="1A6B35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6"/>
          <p:cNvSpPr txBox="1"/>
          <p:nvPr/>
        </p:nvSpPr>
        <p:spPr>
          <a:xfrm>
            <a:off x="4663440" y="6195060"/>
            <a:ext cx="201300" cy="2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282" name="Google Shape;282;p26"/>
          <p:cNvSpPr txBox="1"/>
          <p:nvPr/>
        </p:nvSpPr>
        <p:spPr>
          <a:xfrm>
            <a:off x="4937760" y="5983816"/>
            <a:ext cx="3840600" cy="96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-US" sz="1050" dirty="0">
                <a:solidFill>
                  <a:srgbClr val="1A6B3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Prevent overbooking using transactional APIs &amp; live updates</a:t>
            </a:r>
            <a:endParaRPr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050" dirty="0">
              <a:solidFill>
                <a:srgbClr val="1A6B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6"/>
          <p:cNvSpPr/>
          <p:nvPr/>
        </p:nvSpPr>
        <p:spPr>
          <a:xfrm>
            <a:off x="9015984" y="4416552"/>
            <a:ext cx="2377500" cy="722400"/>
          </a:xfrm>
          <a:prstGeom prst="rect">
            <a:avLst/>
          </a:prstGeom>
          <a:solidFill>
            <a:srgbClr val="0D2B17"/>
          </a:solidFill>
          <a:ln w="9525" cap="flat" cmpd="sng">
            <a:solidFill>
              <a:srgbClr val="2EA85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9015984" y="4453128"/>
            <a:ext cx="23775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2EA855"/>
                </a:solidFill>
                <a:latin typeface="Calibri"/>
                <a:ea typeface="Calibri"/>
                <a:cs typeface="Calibri"/>
                <a:sym typeface="Calibri"/>
              </a:rPr>
              <a:t>90%</a:t>
            </a:r>
            <a:endParaRPr/>
          </a:p>
        </p:txBody>
      </p:sp>
      <p:sp>
        <p:nvSpPr>
          <p:cNvPr id="285" name="Google Shape;285;p26"/>
          <p:cNvSpPr txBox="1"/>
          <p:nvPr/>
        </p:nvSpPr>
        <p:spPr>
          <a:xfrm>
            <a:off x="9015984" y="4813858"/>
            <a:ext cx="2377500" cy="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D6F0DE"/>
                </a:solidFill>
                <a:latin typeface="Calibri"/>
                <a:ea typeface="Calibri"/>
                <a:cs typeface="Calibri"/>
                <a:sym typeface="Calibri"/>
              </a:rPr>
              <a:t>Technical</a:t>
            </a:r>
            <a:br>
              <a:rPr lang="en-US" sz="850" b="0" i="0" u="none" strike="noStrike" cap="none">
                <a:solidFill>
                  <a:srgbClr val="D6F0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850" b="0" i="0" u="none" strike="noStrike" cap="none">
                <a:solidFill>
                  <a:srgbClr val="D6F0DE"/>
                </a:solidFill>
                <a:latin typeface="Calibri"/>
                <a:ea typeface="Calibri"/>
                <a:cs typeface="Calibri"/>
                <a:sym typeface="Calibri"/>
              </a:rPr>
              <a:t>Viability</a:t>
            </a:r>
            <a:endParaRPr/>
          </a:p>
        </p:txBody>
      </p:sp>
      <p:sp>
        <p:nvSpPr>
          <p:cNvPr id="286" name="Google Shape;286;p26"/>
          <p:cNvSpPr/>
          <p:nvPr/>
        </p:nvSpPr>
        <p:spPr>
          <a:xfrm>
            <a:off x="9015984" y="5193792"/>
            <a:ext cx="2377500" cy="722400"/>
          </a:xfrm>
          <a:prstGeom prst="rect">
            <a:avLst/>
          </a:prstGeom>
          <a:solidFill>
            <a:srgbClr val="0D2B17"/>
          </a:solidFill>
          <a:ln w="9525" cap="flat" cmpd="sng">
            <a:solidFill>
              <a:srgbClr val="4AB8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6"/>
          <p:cNvSpPr txBox="1"/>
          <p:nvPr/>
        </p:nvSpPr>
        <p:spPr>
          <a:xfrm>
            <a:off x="9015984" y="5230368"/>
            <a:ext cx="23775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4AB8FF"/>
                </a:solidFill>
                <a:latin typeface="Calibri"/>
                <a:ea typeface="Calibri"/>
                <a:cs typeface="Calibri"/>
                <a:sym typeface="Calibri"/>
              </a:rPr>
              <a:t>85%</a:t>
            </a:r>
            <a:endParaRPr/>
          </a:p>
        </p:txBody>
      </p:sp>
      <p:sp>
        <p:nvSpPr>
          <p:cNvPr id="288" name="Google Shape;288;p26"/>
          <p:cNvSpPr txBox="1"/>
          <p:nvPr/>
        </p:nvSpPr>
        <p:spPr>
          <a:xfrm>
            <a:off x="9015984" y="5591098"/>
            <a:ext cx="2377500" cy="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D6F0DE"/>
                </a:solidFill>
                <a:latin typeface="Calibri"/>
                <a:ea typeface="Calibri"/>
                <a:cs typeface="Calibri"/>
                <a:sym typeface="Calibri"/>
              </a:rPr>
              <a:t>Market</a:t>
            </a:r>
            <a:br>
              <a:rPr lang="en-US" sz="850" b="0" i="0" u="none" strike="noStrike" cap="none">
                <a:solidFill>
                  <a:srgbClr val="D6F0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850" b="0" i="0" u="none" strike="noStrike" cap="none">
                <a:solidFill>
                  <a:srgbClr val="D6F0DE"/>
                </a:solidFill>
                <a:latin typeface="Calibri"/>
                <a:ea typeface="Calibri"/>
                <a:cs typeface="Calibri"/>
                <a:sym typeface="Calibri"/>
              </a:rPr>
              <a:t>Viability</a:t>
            </a:r>
            <a:endParaRPr/>
          </a:p>
        </p:txBody>
      </p:sp>
      <p:sp>
        <p:nvSpPr>
          <p:cNvPr id="289" name="Google Shape;289;p26"/>
          <p:cNvSpPr/>
          <p:nvPr/>
        </p:nvSpPr>
        <p:spPr>
          <a:xfrm>
            <a:off x="9015984" y="5971032"/>
            <a:ext cx="2377500" cy="722400"/>
          </a:xfrm>
          <a:prstGeom prst="rect">
            <a:avLst/>
          </a:prstGeom>
          <a:solidFill>
            <a:srgbClr val="0D2B17"/>
          </a:solidFill>
          <a:ln w="9525" cap="flat" cmpd="sng">
            <a:solidFill>
              <a:srgbClr val="7BE8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6"/>
          <p:cNvSpPr txBox="1"/>
          <p:nvPr/>
        </p:nvSpPr>
        <p:spPr>
          <a:xfrm>
            <a:off x="9015984" y="6007608"/>
            <a:ext cx="23775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7BE89A"/>
                </a:solidFill>
                <a:latin typeface="Calibri"/>
                <a:ea typeface="Calibri"/>
                <a:cs typeface="Calibri"/>
                <a:sym typeface="Calibri"/>
              </a:rPr>
              <a:t>92%</a:t>
            </a:r>
            <a:endParaRPr/>
          </a:p>
        </p:txBody>
      </p:sp>
      <p:sp>
        <p:nvSpPr>
          <p:cNvPr id="291" name="Google Shape;291;p26"/>
          <p:cNvSpPr txBox="1"/>
          <p:nvPr/>
        </p:nvSpPr>
        <p:spPr>
          <a:xfrm>
            <a:off x="9015984" y="6368338"/>
            <a:ext cx="2377500" cy="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D6F0DE"/>
                </a:solidFill>
                <a:latin typeface="Calibri"/>
                <a:ea typeface="Calibri"/>
                <a:cs typeface="Calibri"/>
                <a:sym typeface="Calibri"/>
              </a:rPr>
              <a:t>Operational</a:t>
            </a:r>
            <a:br>
              <a:rPr lang="en-US" sz="850" b="0" i="0" u="none" strike="noStrike" cap="none">
                <a:solidFill>
                  <a:srgbClr val="D6F0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850" b="0" i="0" u="none" strike="noStrike" cap="none">
                <a:solidFill>
                  <a:srgbClr val="D6F0DE"/>
                </a:solidFill>
                <a:latin typeface="Calibri"/>
                <a:ea typeface="Calibri"/>
                <a:cs typeface="Calibri"/>
                <a:sym typeface="Calibri"/>
              </a:rPr>
              <a:t>Viability</a:t>
            </a:r>
            <a:endParaRPr/>
          </a:p>
        </p:txBody>
      </p:sp>
      <p:sp>
        <p:nvSpPr>
          <p:cNvPr id="292" name="Google Shape;292;p26"/>
          <p:cNvSpPr/>
          <p:nvPr/>
        </p:nvSpPr>
        <p:spPr>
          <a:xfrm>
            <a:off x="9015984" y="4041648"/>
            <a:ext cx="2377500" cy="255900"/>
          </a:xfrm>
          <a:prstGeom prst="rect">
            <a:avLst/>
          </a:prstGeom>
          <a:solidFill>
            <a:srgbClr val="0D2B17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6"/>
          <p:cNvSpPr txBox="1"/>
          <p:nvPr/>
        </p:nvSpPr>
        <p:spPr>
          <a:xfrm>
            <a:off x="9015984" y="4059936"/>
            <a:ext cx="2377500" cy="2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36575" rIns="36575" bIns="365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EA855"/>
                </a:solidFill>
                <a:latin typeface="Calibri"/>
                <a:ea typeface="Calibri"/>
                <a:cs typeface="Calibri"/>
                <a:sym typeface="Calibri"/>
              </a:rPr>
              <a:t>VIABILITY SCORES</a:t>
            </a:r>
            <a:endParaRPr/>
          </a:p>
        </p:txBody>
      </p:sp>
      <p:sp>
        <p:nvSpPr>
          <p:cNvPr id="294" name="Google Shape;294;p26"/>
          <p:cNvSpPr/>
          <p:nvPr/>
        </p:nvSpPr>
        <p:spPr>
          <a:xfrm>
            <a:off x="0" y="64000"/>
            <a:ext cx="12191700" cy="881720"/>
          </a:xfrm>
          <a:prstGeom prst="rect">
            <a:avLst/>
          </a:prstGeom>
          <a:solidFill>
            <a:srgbClr val="F1F8E9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6"/>
          <p:cNvSpPr txBox="1"/>
          <p:nvPr/>
        </p:nvSpPr>
        <p:spPr>
          <a:xfrm>
            <a:off x="457200" y="164591"/>
            <a:ext cx="8229600" cy="798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FEASIBILITY &amp; VIABILITY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049E47-8E57-524B-8988-8D2A2F0F45E5}"/>
              </a:ext>
            </a:extLst>
          </p:cNvPr>
          <p:cNvSpPr txBox="1"/>
          <p:nvPr/>
        </p:nvSpPr>
        <p:spPr>
          <a:xfrm>
            <a:off x="3023420" y="3321815"/>
            <a:ext cx="6145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33826C-17C9-97AE-2A30-64573DDFF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149" y="1320683"/>
            <a:ext cx="3707675" cy="2580153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6A9E97D-474D-D406-26ED-9DE623D7C3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37600" y="350906"/>
            <a:ext cx="3114121" cy="4629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9"/>
          <p:cNvSpPr/>
          <p:nvPr/>
        </p:nvSpPr>
        <p:spPr>
          <a:xfrm>
            <a:off x="0" y="92668"/>
            <a:ext cx="12191695" cy="100584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9"/>
          <p:cNvSpPr txBox="1"/>
          <p:nvPr/>
        </p:nvSpPr>
        <p:spPr>
          <a:xfrm>
            <a:off x="457200" y="164592"/>
            <a:ext cx="7177363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IMPACT &amp; BENEFITS</a:t>
            </a:r>
            <a:endParaRPr/>
          </a:p>
        </p:txBody>
      </p:sp>
      <p:pic>
        <p:nvPicPr>
          <p:cNvPr id="356" name="Google Shape;356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692" y="1043791"/>
            <a:ext cx="12188825" cy="133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4575" y="4121250"/>
            <a:ext cx="4554251" cy="273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9"/>
          <p:cNvSpPr txBox="1"/>
          <p:nvPr/>
        </p:nvSpPr>
        <p:spPr>
          <a:xfrm>
            <a:off x="3688700" y="1324625"/>
            <a:ext cx="3821700" cy="5202600"/>
          </a:xfrm>
          <a:prstGeom prst="rect">
            <a:avLst/>
          </a:prstGeom>
          <a:solidFill>
            <a:srgbClr val="E9F8E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3D658"/>
                </a:solidFill>
                <a:latin typeface="Calibri"/>
                <a:ea typeface="Calibri"/>
                <a:cs typeface="Calibri"/>
                <a:sym typeface="Calibri"/>
              </a:rPr>
              <a:t>BENEFITS: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 Users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Zero queue surprises with pre-booked slots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Real-time navigation to the nearest available charger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Fleet Operators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Multi-vehicle bulk booking support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Reduced downtime and better fleet utilisation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Govt / Cities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Data-driven infrastructure planning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Promotes nationwide green transportation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Businesses / Station Owners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Increased revenue through better utilisation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Efficient management of charging slots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9"/>
          <p:cNvSpPr txBox="1"/>
          <p:nvPr/>
        </p:nvSpPr>
        <p:spPr>
          <a:xfrm>
            <a:off x="132325" y="1324625"/>
            <a:ext cx="3435000" cy="5202600"/>
          </a:xfrm>
          <a:prstGeom prst="rect">
            <a:avLst/>
          </a:prstGeom>
          <a:solidFill>
            <a:srgbClr val="D9E5F8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F5C99"/>
                </a:solidFill>
                <a:latin typeface="Calibri"/>
                <a:ea typeface="Calibri"/>
                <a:cs typeface="Calibri"/>
                <a:sym typeface="Calibri"/>
              </a:rPr>
              <a:t>IMPACTS:</a:t>
            </a:r>
            <a:endParaRPr sz="2400" b="1" i="0" u="none" strike="noStrike" cap="none">
              <a:solidFill>
                <a:srgbClr val="1F5C9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Reduced Waiting Time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Minimizes long queues at charging stations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Improves overall charging efficiency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Optimized Infrastructure Usage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Reduces idle time of charging slots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Balances demand during peak hours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Environmental Impact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Promotes adoption of electric vehicles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Reduces carbon emissions and pollution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Improved User Experience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Eliminates uncertainty during travel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Enhances convenience and reliability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0" name="Google Shape;360;p29" title="WhatsApp Image 2026-04-26 at 5.57.33 PM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10300" y="1377300"/>
            <a:ext cx="2497551" cy="254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9" title="WhatsApp Image 2026-04-26 at 5.56.59 PM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62600" y="1338100"/>
            <a:ext cx="2347924" cy="254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38318" y="308150"/>
            <a:ext cx="3111729" cy="46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20040" y="1294777"/>
            <a:ext cx="5715000" cy="1750549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303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Policy &amp;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99" y="1703610"/>
            <a:ext cx="5503333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IN" dirty="0">
                <a:latin typeface="+mn-lt"/>
                <a:cs typeface="Arial" panose="020B0604020202020204" pitchFamily="34" charset="0"/>
              </a:rPr>
              <a:t>*</a:t>
            </a:r>
            <a:r>
              <a:rPr lang="en-IN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Arial" panose="020B0604020202020204" pitchFamily="34" charset="0"/>
              </a:rPr>
              <a:t>NITI Aayog — </a:t>
            </a:r>
            <a:r>
              <a:rPr lang="en-IN" sz="13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Arial" panose="020B0604020202020204" pitchFamily="34" charset="0"/>
              </a:rPr>
              <a:t>e-Amrit EV Resource Portal</a:t>
            </a:r>
            <a:r>
              <a:rPr lang="en-IN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Arial" panose="020B0604020202020204" pitchFamily="34" charset="0"/>
              </a:rPr>
              <a:t> (India EV ecosystem insights)</a:t>
            </a:r>
            <a:br>
              <a:rPr lang="en-IN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Arial" panose="020B0604020202020204" pitchFamily="34" charset="0"/>
              </a:rPr>
            </a:br>
            <a:r>
              <a:rPr lang="en-IN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Arial" panose="020B0604020202020204" pitchFamily="34" charset="0"/>
              </a:rPr>
              <a:t>• Bureau of Energy Efficiency (BEE) — </a:t>
            </a:r>
            <a:r>
              <a:rPr lang="en-IN" sz="13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Arial" panose="020B0604020202020204" pitchFamily="34" charset="0"/>
              </a:rPr>
              <a:t>EV Charging Infra Standards</a:t>
            </a:r>
            <a:br>
              <a:rPr lang="en-IN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Arial" panose="020B0604020202020204" pitchFamily="34" charset="0"/>
              </a:rPr>
            </a:br>
            <a:r>
              <a:rPr lang="en-IN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Arial" panose="020B0604020202020204" pitchFamily="34" charset="0"/>
              </a:rPr>
              <a:t>• PM e-DRIVE Scheme — </a:t>
            </a:r>
            <a:r>
              <a:rPr lang="en-IN" sz="13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Arial" panose="020B0604020202020204" pitchFamily="34" charset="0"/>
              </a:rPr>
              <a:t>Government initiative for EV adoption</a:t>
            </a:r>
            <a:br>
              <a:rPr lang="en-IN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Arial" panose="020B0604020202020204" pitchFamily="34" charset="0"/>
              </a:rPr>
            </a:br>
            <a:r>
              <a:rPr lang="en-IN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Arial" panose="020B0604020202020204" pitchFamily="34" charset="0"/>
              </a:rPr>
              <a:t>• FAME-II Policy — </a:t>
            </a:r>
            <a:r>
              <a:rPr lang="en-IN" sz="13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Arial" panose="020B0604020202020204" pitchFamily="34" charset="0"/>
              </a:rPr>
              <a:t>Incentives for EV infrastructure &amp; growth</a:t>
            </a:r>
            <a:endParaRPr sz="1300" b="0" i="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45F0FB9-4A9B-38DA-BA68-5D74C03F73B0}"/>
              </a:ext>
            </a:extLst>
          </p:cNvPr>
          <p:cNvGrpSpPr/>
          <p:nvPr/>
        </p:nvGrpSpPr>
        <p:grpSpPr>
          <a:xfrm>
            <a:off x="282786" y="4812938"/>
            <a:ext cx="5715000" cy="1835406"/>
            <a:chOff x="6229774" y="1170432"/>
            <a:chExt cx="5840306" cy="2010664"/>
          </a:xfrm>
        </p:grpSpPr>
        <p:sp>
          <p:nvSpPr>
            <p:cNvPr id="11" name="Rectangle 10"/>
            <p:cNvSpPr/>
            <p:nvPr/>
          </p:nvSpPr>
          <p:spPr>
            <a:xfrm>
              <a:off x="6229774" y="1170432"/>
              <a:ext cx="5840306" cy="201066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486746" y="1266469"/>
              <a:ext cx="5303520" cy="967158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l"/>
              <a:r>
                <a:rPr sz="1600" b="1" i="0" dirty="0">
                  <a:solidFill>
                    <a:srgbClr val="0288D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Technical Resources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457527" y="1635598"/>
              <a:ext cx="5349240" cy="1160590"/>
            </a:xfrm>
            <a:prstGeom prst="rect">
              <a:avLst/>
            </a:prstGeom>
            <a:noFill/>
          </p:spPr>
          <p:txBody>
            <a:bodyPr wrap="square"/>
            <a:lstStyle/>
            <a:p>
              <a:r>
                <a:rPr lang="en-IN" dirty="0"/>
                <a:t>• </a:t>
              </a:r>
              <a:r>
                <a:rPr lang="en-IN" sz="1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</a:rPr>
                <a:t>Open Charge Alliance — </a:t>
              </a:r>
              <a:r>
                <a:rPr lang="en-IN" sz="13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</a:rPr>
                <a:t>OCPP 2.0.1 Protocol (EV charger communication)</a:t>
              </a:r>
              <a:br>
                <a:rPr lang="en-IN" sz="1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</a:rPr>
              </a:br>
              <a:r>
                <a:rPr lang="en-IN" sz="1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</a:rPr>
                <a:t>• Google Maps Platform — </a:t>
              </a:r>
              <a:r>
                <a:rPr lang="en-IN" sz="13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</a:rPr>
                <a:t>Geolocation, routing &amp; navigation APIs</a:t>
              </a:r>
              <a:br>
                <a:rPr lang="en-IN" sz="1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</a:rPr>
              </a:br>
              <a:r>
                <a:rPr lang="en-IN" sz="1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</a:rPr>
                <a:t>• WebSocket — </a:t>
              </a:r>
              <a:r>
                <a:rPr lang="en-IN" sz="13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</a:rPr>
                <a:t>Real-time slot updates</a:t>
              </a:r>
              <a:br>
                <a:rPr lang="en-IN" sz="1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</a:rPr>
              </a:br>
              <a:r>
                <a:rPr lang="en-IN" sz="1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</a:rPr>
                <a:t>• Redis Pub/Sub — </a:t>
              </a:r>
              <a:r>
                <a:rPr lang="en-IN" sz="13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</a:rPr>
                <a:t>High-speed data synchronization</a:t>
              </a:r>
              <a:endParaRPr sz="13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endParaRPr>
            </a:p>
          </p:txBody>
        </p:sp>
      </p:grpSp>
      <p:sp>
        <p:nvSpPr>
          <p:cNvPr id="18" name="Rectangle 17"/>
          <p:cNvSpPr/>
          <p:nvPr/>
        </p:nvSpPr>
        <p:spPr>
          <a:xfrm>
            <a:off x="320040" y="3410449"/>
            <a:ext cx="5715000" cy="5029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7CDA260-CDD8-1827-19B3-D3E3C12BD8A0}"/>
              </a:ext>
            </a:extLst>
          </p:cNvPr>
          <p:cNvGrpSpPr/>
          <p:nvPr/>
        </p:nvGrpSpPr>
        <p:grpSpPr>
          <a:xfrm>
            <a:off x="320040" y="3132992"/>
            <a:ext cx="5715000" cy="1714314"/>
            <a:chOff x="320040" y="3500571"/>
            <a:chExt cx="5715000" cy="1714314"/>
          </a:xfrm>
        </p:grpSpPr>
        <p:sp>
          <p:nvSpPr>
            <p:cNvPr id="17" name="Rectangle 16"/>
            <p:cNvSpPr/>
            <p:nvPr/>
          </p:nvSpPr>
          <p:spPr>
            <a:xfrm>
              <a:off x="320040" y="3500571"/>
              <a:ext cx="5715000" cy="154379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02920" y="3531089"/>
              <a:ext cx="5303520" cy="4572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 algn="l"/>
              <a:r>
                <a:rPr sz="1600" b="1" i="0" dirty="0">
                  <a:solidFill>
                    <a:schemeClr val="accent6">
                      <a:lumMod val="7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Market Research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34245" y="3915986"/>
              <a:ext cx="5349240" cy="1298899"/>
            </a:xfrm>
            <a:prstGeom prst="rect">
              <a:avLst/>
            </a:prstGeom>
            <a:noFill/>
          </p:spPr>
          <p:txBody>
            <a:bodyPr wrap="square"/>
            <a:lstStyle/>
            <a:p>
              <a:r>
                <a:rPr lang="en-IN" sz="13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• </a:t>
              </a:r>
              <a:r>
                <a:rPr lang="en-IN" sz="1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cs typeface="Arial" panose="020B0604020202020204" pitchFamily="34" charset="0"/>
                </a:rPr>
                <a:t>Vasudha Foundation — </a:t>
              </a:r>
              <a:r>
                <a:rPr lang="en-IN" sz="13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cs typeface="Arial" panose="020B0604020202020204" pitchFamily="34" charset="0"/>
                </a:rPr>
                <a:t>EV Charging Behaviour Study (India)</a:t>
              </a:r>
              <a:br>
                <a:rPr lang="en-IN" sz="1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cs typeface="Arial" panose="020B0604020202020204" pitchFamily="34" charset="0"/>
                </a:rPr>
              </a:br>
              <a:r>
                <a:rPr lang="en-IN" sz="1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cs typeface="Arial" panose="020B0604020202020204" pitchFamily="34" charset="0"/>
                </a:rPr>
                <a:t>• JMK Research — </a:t>
              </a:r>
              <a:r>
                <a:rPr lang="en-IN" sz="13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cs typeface="Arial" panose="020B0604020202020204" pitchFamily="34" charset="0"/>
                </a:rPr>
                <a:t>India EV Market Report 2024</a:t>
              </a:r>
              <a:br>
                <a:rPr lang="en-IN" sz="1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cs typeface="Arial" panose="020B0604020202020204" pitchFamily="34" charset="0"/>
                </a:rPr>
              </a:br>
              <a:r>
                <a:rPr lang="en-IN" sz="1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cs typeface="Arial" panose="020B0604020202020204" pitchFamily="34" charset="0"/>
                </a:rPr>
                <a:t>• IEA Global EV Outlook — </a:t>
              </a:r>
              <a:r>
                <a:rPr lang="en-IN" sz="13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cs typeface="Arial" panose="020B0604020202020204" pitchFamily="34" charset="0"/>
                </a:rPr>
                <a:t>EV growth trends worldwide</a:t>
              </a:r>
              <a:br>
                <a:rPr lang="en-IN" sz="1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cs typeface="Arial" panose="020B0604020202020204" pitchFamily="34" charset="0"/>
                </a:rPr>
              </a:br>
              <a:r>
                <a:rPr lang="en-IN" sz="1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cs typeface="Arial" panose="020B0604020202020204" pitchFamily="34" charset="0"/>
                </a:rPr>
                <a:t>• Peer Paper — </a:t>
              </a:r>
              <a:r>
                <a:rPr lang="en-IN" sz="13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cs typeface="Arial" panose="020B0604020202020204" pitchFamily="34" charset="0"/>
                </a:rPr>
                <a:t>Smart Charging Network Optimization</a:t>
              </a:r>
              <a:endParaRPr sz="13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CA336896-40F7-2A48-32F1-2A28EA909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439" y="1257517"/>
            <a:ext cx="3117426" cy="334987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C24FB69-0DAB-1A07-0496-A9148676C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7717" y="1260413"/>
            <a:ext cx="2746127" cy="33498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3E27CAA-4746-67EF-228B-F363F8AFF3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161"/>
            <a:ext cx="12188825" cy="108331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67E8DFB-7DB1-4086-4CF1-E6E6E2289E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437" y="167195"/>
            <a:ext cx="8382727" cy="859611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33DC444F-9E2C-5BDD-FE33-73F9135B27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37600" y="350906"/>
            <a:ext cx="3114121" cy="46291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8323CF9-5888-CB41-5D80-C136D644BF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" y="1023279"/>
            <a:ext cx="12188825" cy="13314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987CFB0-32C4-3446-5B50-957B3A4003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8046" y="4812938"/>
            <a:ext cx="5807264" cy="18354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671</TotalTime>
  <Words>853</Words>
  <Application>Microsoft Office PowerPoint</Application>
  <PresentationFormat>Custom</PresentationFormat>
  <Paragraphs>135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Garamond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Akanksha Sahu</dc:creator>
  <cp:lastModifiedBy>Akanksha Sahu</cp:lastModifiedBy>
  <cp:revision>15</cp:revision>
  <dcterms:modified xsi:type="dcterms:W3CDTF">2026-04-26T16:28:07Z</dcterms:modified>
</cp:coreProperties>
</file>